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McKinsey (Changali, Mohammad, van Nieuwland), The construction productivity imperative, July 2015: https://www.mckinsey.com/capabilities/operations/our-insights/the-construction-productivity-imperative
Local PDF: research/mckinsey-productivity/The_construction_productivity_imperative.pdf
PlanGrid+FMI 2018: https://www.autodesk.com/blogs/construction/construction-disconnected-fmi-report/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www.mckinsey.com/capabilities/operations/our-insights/the-construction-productivity-imperative" TargetMode="External"/><Relationship Id="rId3" Type="http://schemas.openxmlformats.org/officeDocument/2006/relationships/hyperlink" Target="https://www.mckinsey.com/capabilities/operations/our-insights/the-construction-productivity-imperative" TargetMode="External"/><Relationship Id="rId4" Type="http://schemas.openxmlformats.org/officeDocument/2006/relationships/hyperlink" Target="https://www.mckinsey.com/capabilities/operations/our-insights/the-construction-productivity-imperative" TargetMode="External"/><Relationship Id="rId5" Type="http://schemas.openxmlformats.org/officeDocument/2006/relationships/hyperlink" Target="https://www.autodesk.com/blogs/construction/construction-disconnected-fmi-report/" TargetMode="External"/><Relationship Id="rId1" Type="http://schemas.openxmlformats.org/officeDocument/2006/relationships/image" Target="../media/image-2-1.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917"/>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C2410C"/>
          </a:solidFill>
          <a:ln w="12700">
            <a:solidFill>
              <a:srgbClr val="C2410C"/>
            </a:solidFill>
            <a:prstDash val="solid"/>
          </a:ln>
        </p:spPr>
      </p:sp>
      <p:sp>
        <p:nvSpPr>
          <p:cNvPr id="3" name="Text 1"/>
          <p:cNvSpPr/>
          <p:nvPr/>
        </p:nvSpPr>
        <p:spPr>
          <a:xfrm>
            <a:off x="640080" y="1234440"/>
            <a:ext cx="7772400" cy="640080"/>
          </a:xfrm>
          <a:prstGeom prst="rect">
            <a:avLst/>
          </a:prstGeom>
          <a:noFill/>
          <a:ln/>
        </p:spPr>
        <p:txBody>
          <a:bodyPr wrap="square" lIns="0" tIns="0" rIns="0" bIns="0" rtlCol="0" anchor="ctr"/>
          <a:lstStyle/>
          <a:p>
            <a:pPr indent="0" marL="0">
              <a:buNone/>
            </a:pPr>
            <a:r>
              <a:rPr lang="en-US" sz="4600" b="1" dirty="0">
                <a:solidFill>
                  <a:srgbClr val="FAFAF9"/>
                </a:solidFill>
                <a:latin typeface="IBM Plex Sans" pitchFamily="34" charset="0"/>
                <a:ea typeface="IBM Plex Sans" pitchFamily="34" charset="-122"/>
                <a:cs typeface="IBM Plex Sans" pitchFamily="34" charset="-120"/>
              </a:rPr>
              <a:t>FIELDCLAW</a:t>
            </a:r>
            <a:endParaRPr lang="en-US" sz="4600" dirty="0"/>
          </a:p>
        </p:txBody>
      </p:sp>
      <p:sp>
        <p:nvSpPr>
          <p:cNvPr id="4" name="Text 2"/>
          <p:cNvSpPr/>
          <p:nvPr/>
        </p:nvSpPr>
        <p:spPr>
          <a:xfrm>
            <a:off x="640080" y="2011680"/>
            <a:ext cx="7772400" cy="411480"/>
          </a:xfrm>
          <a:prstGeom prst="rect">
            <a:avLst/>
          </a:prstGeom>
          <a:noFill/>
          <a:ln/>
        </p:spPr>
        <p:txBody>
          <a:bodyPr wrap="square" lIns="0" tIns="0" rIns="0" bIns="0" rtlCol="0" anchor="ctr"/>
          <a:lstStyle/>
          <a:p>
            <a:pPr indent="0" marL="0">
              <a:buNone/>
            </a:pPr>
            <a:r>
              <a:rPr lang="en-US" sz="2000" dirty="0">
                <a:solidFill>
                  <a:srgbClr val="A8A29E"/>
                </a:solidFill>
                <a:latin typeface="IBM Plex Sans" pitchFamily="34" charset="0"/>
                <a:ea typeface="IBM Plex Sans" pitchFamily="34" charset="-122"/>
                <a:cs typeface="IBM Plex Sans" pitchFamily="34" charset="-120"/>
              </a:rPr>
              <a:t>Field intelligence layer for construction execution</a:t>
            </a:r>
            <a:endParaRPr lang="en-US" sz="2000" dirty="0"/>
          </a:p>
        </p:txBody>
      </p:sp>
      <p:sp>
        <p:nvSpPr>
          <p:cNvPr id="5" name="Shape 3"/>
          <p:cNvSpPr/>
          <p:nvPr/>
        </p:nvSpPr>
        <p:spPr>
          <a:xfrm>
            <a:off x="640080" y="2651760"/>
            <a:ext cx="1097280" cy="36576"/>
          </a:xfrm>
          <a:prstGeom prst="rect">
            <a:avLst/>
          </a:prstGeom>
          <a:solidFill>
            <a:srgbClr val="C2410C"/>
          </a:solidFill>
          <a:ln/>
        </p:spPr>
      </p:sp>
      <p:sp>
        <p:nvSpPr>
          <p:cNvPr id="6" name="Text 4"/>
          <p:cNvSpPr/>
          <p:nvPr/>
        </p:nvSpPr>
        <p:spPr>
          <a:xfrm>
            <a:off x="640080" y="2971800"/>
            <a:ext cx="7772400" cy="274320"/>
          </a:xfrm>
          <a:prstGeom prst="rect">
            <a:avLst/>
          </a:prstGeom>
          <a:noFill/>
          <a:ln/>
        </p:spPr>
        <p:txBody>
          <a:bodyPr wrap="square" lIns="0" tIns="0" rIns="0" bIns="0" rtlCol="0" anchor="ctr"/>
          <a:lstStyle/>
          <a:p>
            <a:pPr indent="0" marL="0">
              <a:buNone/>
            </a:pPr>
            <a:r>
              <a:rPr lang="en-US" sz="1500" dirty="0">
                <a:solidFill>
                  <a:srgbClr val="FAFAF9"/>
                </a:solidFill>
                <a:latin typeface="IBM Plex Sans" pitchFamily="34" charset="0"/>
                <a:ea typeface="IBM Plex Sans" pitchFamily="34" charset="-122"/>
                <a:cs typeface="IBM Plex Sans" pitchFamily="34" charset="-120"/>
              </a:rPr>
              <a:t>Rishi Divyakirti  ·  Harshit Tomar</a:t>
            </a:r>
            <a:endParaRPr lang="en-US" sz="1500" dirty="0"/>
          </a:p>
        </p:txBody>
      </p:sp>
      <p:sp>
        <p:nvSpPr>
          <p:cNvPr id="7" name="Text 5"/>
          <p:cNvSpPr/>
          <p:nvPr/>
        </p:nvSpPr>
        <p:spPr>
          <a:xfrm>
            <a:off x="640080" y="3291840"/>
            <a:ext cx="7772400" cy="256032"/>
          </a:xfrm>
          <a:prstGeom prst="rect">
            <a:avLst/>
          </a:prstGeom>
          <a:noFill/>
          <a:ln/>
        </p:spPr>
        <p:txBody>
          <a:bodyPr wrap="square" lIns="0" tIns="0" rIns="0" bIns="0" rtlCol="0" anchor="ctr"/>
          <a:lstStyle/>
          <a:p>
            <a:pPr indent="0" marL="0">
              <a:buNone/>
            </a:pPr>
            <a:r>
              <a:rPr lang="en-US" sz="1300" dirty="0">
                <a:solidFill>
                  <a:srgbClr val="A8A29E"/>
                </a:solidFill>
                <a:latin typeface="IBM Plex Sans" pitchFamily="34" charset="0"/>
                <a:ea typeface="IBM Plex Sans" pitchFamily="34" charset="-122"/>
                <a:cs typeface="IBM Plex Sans" pitchFamily="34" charset="-120"/>
              </a:rPr>
              <a:t>IIT Kanpur  ·  4th Year Undergraduate</a:t>
            </a:r>
            <a:endParaRPr lang="en-US" sz="1300" dirty="0"/>
          </a:p>
        </p:txBody>
      </p:sp>
      <p:sp>
        <p:nvSpPr>
          <p:cNvPr id="8" name="Text 6"/>
          <p:cNvSpPr/>
          <p:nvPr/>
        </p:nvSpPr>
        <p:spPr>
          <a:xfrm>
            <a:off x="640080" y="4480560"/>
            <a:ext cx="7772400" cy="256032"/>
          </a:xfrm>
          <a:prstGeom prst="rect">
            <a:avLst/>
          </a:prstGeom>
          <a:noFill/>
          <a:ln/>
        </p:spPr>
        <p:txBody>
          <a:bodyPr wrap="square" lIns="0" tIns="0" rIns="0" bIns="0" rtlCol="0" anchor="ctr"/>
          <a:lstStyle/>
          <a:p>
            <a:pPr indent="0" marL="0">
              <a:buNone/>
            </a:pPr>
            <a:r>
              <a:rPr lang="en-US" sz="1200" dirty="0">
                <a:solidFill>
                  <a:srgbClr val="57534E"/>
                </a:solidFill>
                <a:latin typeface="IBM Plex Sans" pitchFamily="34" charset="0"/>
                <a:ea typeface="IBM Plex Sans" pitchFamily="34" charset="-122"/>
                <a:cs typeface="IBM Plex Sans" pitchFamily="34" charset="-120"/>
              </a:rPr>
              <a:t>Kaya AI Hackathon 2026  ·  Open Innovation  ·  Stage 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C2410C"/>
          </a:solidFill>
          <a:ln w="12700">
            <a:solidFill>
              <a:srgbClr val="C2410C"/>
            </a:solidFill>
            <a:prstDash val="solid"/>
          </a:ln>
        </p:spPr>
      </p:sp>
      <p:sp>
        <p:nvSpPr>
          <p:cNvPr id="3" name="Text 1"/>
          <p:cNvSpPr/>
          <p:nvPr/>
        </p:nvSpPr>
        <p:spPr>
          <a:xfrm>
            <a:off x="502920" y="292608"/>
            <a:ext cx="8046720" cy="256032"/>
          </a:xfrm>
          <a:prstGeom prst="rect">
            <a:avLst/>
          </a:prstGeom>
          <a:noFill/>
          <a:ln/>
        </p:spPr>
        <p:txBody>
          <a:bodyPr wrap="square" lIns="0" tIns="0" rIns="0" bIns="0" rtlCol="0" anchor="ctr"/>
          <a:lstStyle/>
          <a:p>
            <a:pPr indent="0" marL="0">
              <a:buNone/>
            </a:pPr>
            <a:r>
              <a:rPr lang="en-US" sz="1200" b="1" spc="250" kern="0" dirty="0">
                <a:solidFill>
                  <a:srgbClr val="C2410C"/>
                </a:solidFill>
                <a:latin typeface="IBM Plex Sans" pitchFamily="34" charset="0"/>
                <a:ea typeface="IBM Plex Sans" pitchFamily="34" charset="-122"/>
                <a:cs typeface="IBM Plex Sans" pitchFamily="34" charset="-120"/>
              </a:rPr>
              <a:t>PROBLEM</a:t>
            </a:r>
            <a:endParaRPr lang="en-US" sz="1200" dirty="0"/>
          </a:p>
        </p:txBody>
      </p:sp>
      <p:sp>
        <p:nvSpPr>
          <p:cNvPr id="4" name="Text 2"/>
          <p:cNvSpPr/>
          <p:nvPr/>
        </p:nvSpPr>
        <p:spPr>
          <a:xfrm>
            <a:off x="502920" y="475488"/>
            <a:ext cx="8321040" cy="502920"/>
          </a:xfrm>
          <a:prstGeom prst="rect">
            <a:avLst/>
          </a:prstGeom>
          <a:noFill/>
          <a:ln/>
        </p:spPr>
        <p:txBody>
          <a:bodyPr wrap="square" lIns="0" tIns="0" rIns="0" bIns="0" rtlCol="0" anchor="t"/>
          <a:lstStyle/>
          <a:p>
            <a:pPr indent="0" marL="0">
              <a:buNone/>
            </a:pPr>
            <a:r>
              <a:rPr lang="en-US" sz="2400" b="1" dirty="0">
                <a:solidFill>
                  <a:srgbClr val="1C1917"/>
                </a:solidFill>
                <a:latin typeface="IBM Plex Sans" pitchFamily="34" charset="0"/>
                <a:ea typeface="IBM Plex Sans" pitchFamily="34" charset="-122"/>
                <a:cs typeface="IBM Plex Sans" pitchFamily="34" charset="-120"/>
              </a:rPr>
              <a:t>Different versions of the truth on the same site</a:t>
            </a:r>
            <a:endParaRPr lang="en-US" sz="2400" dirty="0"/>
          </a:p>
        </p:txBody>
      </p:sp>
      <p:sp>
        <p:nvSpPr>
          <p:cNvPr id="5" name="Text 3"/>
          <p:cNvSpPr/>
          <p:nvPr/>
        </p:nvSpPr>
        <p:spPr>
          <a:xfrm>
            <a:off x="502920" y="1024128"/>
            <a:ext cx="8138160" cy="566928"/>
          </a:xfrm>
          <a:prstGeom prst="rect">
            <a:avLst/>
          </a:prstGeom>
          <a:noFill/>
          <a:ln/>
        </p:spPr>
        <p:txBody>
          <a:bodyPr wrap="square" lIns="0" tIns="0" rIns="0" bIns="0" rtlCol="0" anchor="ctr"/>
          <a:lstStyle/>
          <a:p>
            <a:pPr indent="0" marL="0">
              <a:buNone/>
            </a:pPr>
            <a:r>
              <a:rPr lang="en-US" sz="1500" dirty="0">
                <a:solidFill>
                  <a:srgbClr val="57534E"/>
                </a:solidFill>
                <a:latin typeface="IBM Plex Sans" pitchFamily="34" charset="0"/>
                <a:ea typeface="IBM Plex Sans" pitchFamily="34" charset="-122"/>
                <a:cs typeface="IBM Plex Sans" pitchFamily="34" charset="-120"/>
              </a:rPr>
              <a:t>McKinsey: the area supervisor, project manager, planner, and owner often disagree on what is going on because they do not get the right information in time — or the same information.</a:t>
            </a:r>
            <a:endParaRPr lang="en-US" sz="1500" dirty="0"/>
          </a:p>
        </p:txBody>
      </p:sp>
      <p:pic>
        <p:nvPicPr>
          <p:cNvPr id="6" name="Image 0" descr="/home/rdksupe/building_shit/buildsync/deck/assets/mckinsey-favicon.png">
            <a:hlinkClick r:id="rId2" tooltip="McKinsey — The construction productivity imperative"/>
          </p:cNvPr>
          <p:cNvPicPr>
            <a:picLocks noChangeAspect="1"/>
          </p:cNvPicPr>
          <p:nvPr/>
        </p:nvPicPr>
        <p:blipFill>
          <a:blip r:embed="rId1"/>
          <a:stretch>
            <a:fillRect/>
          </a:stretch>
        </p:blipFill>
        <p:spPr>
          <a:xfrm>
            <a:off x="502920" y="1627632"/>
            <a:ext cx="201168" cy="201168"/>
          </a:xfrm>
          <a:prstGeom prst="rect">
            <a:avLst/>
          </a:prstGeom>
        </p:spPr>
      </p:pic>
      <p:sp>
        <p:nvSpPr>
          <p:cNvPr id="7" name="Text 4"/>
          <p:cNvSpPr/>
          <p:nvPr/>
        </p:nvSpPr>
        <p:spPr>
          <a:xfrm>
            <a:off x="768096" y="1627632"/>
            <a:ext cx="7772400" cy="219456"/>
          </a:xfrm>
          <a:prstGeom prst="rect">
            <a:avLst/>
          </a:prstGeom>
          <a:noFill/>
          <a:ln/>
        </p:spPr>
        <p:txBody>
          <a:bodyPr wrap="square" lIns="0" tIns="0" rIns="0" bIns="0" rtlCol="0" anchor="ctr"/>
          <a:lstStyle/>
          <a:p>
            <a:pPr indent="0" marL="0">
              <a:buNone/>
            </a:pPr>
            <a:r>
              <a:rPr lang="en-US" sz="1100" u="sng" dirty="0">
                <a:solidFill>
                  <a:srgbClr val="57534E"/>
                </a:solidFill>
                <a:latin typeface="IBM Plex Sans" pitchFamily="34" charset="0"/>
                <a:ea typeface="IBM Plex Sans" pitchFamily="34" charset="-122"/>
                <a:cs typeface="IBM Plex Sans" pitchFamily="34" charset="-120"/>
                <a:hlinkClick r:id="rId3" invalidUrl="" action="" tgtFrame="" tooltip="https://www.mckinsey.com/capabilities/operations/our-insights/the-construction-productivity-imperative" history="1" highlightClick="0" endSnd="0">
                  <a:extLst>
                    <a:ext uri="{A12FA001-AC4F-418D-AE19-62706E023703}">
                      <ahyp:hlinkClr xmlns:ahyp="http://schemas.microsoft.com/office/drawing/2018/hyperlinkcolor" val="tx"/>
                    </a:ext>
                  </a:extLst>
                </a:hlinkClick>
              </a:rPr>
              <a:t>mckinsey.com — The construction productivity imperative (2015)</a:t>
            </a:r>
            <a:endParaRPr lang="en-US" sz="1100" dirty="0"/>
          </a:p>
        </p:txBody>
      </p:sp>
      <p:sp>
        <p:nvSpPr>
          <p:cNvPr id="8" name="Shape 5"/>
          <p:cNvSpPr/>
          <p:nvPr/>
        </p:nvSpPr>
        <p:spPr>
          <a:xfrm>
            <a:off x="502920" y="1965960"/>
            <a:ext cx="2697480" cy="2423160"/>
          </a:xfrm>
          <a:prstGeom prst="rect">
            <a:avLst/>
          </a:prstGeom>
          <a:solidFill>
            <a:srgbClr val="FFFFFF"/>
          </a:solidFill>
          <a:ln w="12700">
            <a:solidFill>
              <a:srgbClr val="D6D3D1"/>
            </a:solidFill>
            <a:prstDash val="solid"/>
          </a:ln>
        </p:spPr>
      </p:sp>
      <p:sp>
        <p:nvSpPr>
          <p:cNvPr id="9" name="Shape 6"/>
          <p:cNvSpPr/>
          <p:nvPr/>
        </p:nvSpPr>
        <p:spPr>
          <a:xfrm>
            <a:off x="502920" y="1965960"/>
            <a:ext cx="2697480" cy="73152"/>
          </a:xfrm>
          <a:prstGeom prst="rect">
            <a:avLst/>
          </a:prstGeom>
          <a:solidFill>
            <a:srgbClr val="C2410C"/>
          </a:solidFill>
          <a:ln/>
        </p:spPr>
      </p:sp>
      <p:sp>
        <p:nvSpPr>
          <p:cNvPr id="10" name="Text 7"/>
          <p:cNvSpPr/>
          <p:nvPr/>
        </p:nvSpPr>
        <p:spPr>
          <a:xfrm>
            <a:off x="685800" y="2176272"/>
            <a:ext cx="2331720" cy="502920"/>
          </a:xfrm>
          <a:prstGeom prst="rect">
            <a:avLst/>
          </a:prstGeom>
          <a:noFill/>
          <a:ln/>
        </p:spPr>
        <p:txBody>
          <a:bodyPr wrap="square" lIns="0" tIns="0" rIns="0" bIns="0" rtlCol="0" anchor="ctr"/>
          <a:lstStyle/>
          <a:p>
            <a:pPr indent="0" marL="0">
              <a:buNone/>
            </a:pPr>
            <a:r>
              <a:rPr lang="en-US" sz="3400" b="1" dirty="0">
                <a:solidFill>
                  <a:srgbClr val="C2410C"/>
                </a:solidFill>
                <a:latin typeface="IBM Plex Sans" pitchFamily="34" charset="0"/>
                <a:ea typeface="IBM Plex Sans" pitchFamily="34" charset="-122"/>
                <a:cs typeface="IBM Plex Sans" pitchFamily="34" charset="-120"/>
              </a:rPr>
              <a:t>98%</a:t>
            </a:r>
            <a:endParaRPr lang="en-US" sz="3400" dirty="0"/>
          </a:p>
        </p:txBody>
      </p:sp>
      <p:sp>
        <p:nvSpPr>
          <p:cNvPr id="11" name="Text 8"/>
          <p:cNvSpPr/>
          <p:nvPr/>
        </p:nvSpPr>
        <p:spPr>
          <a:xfrm>
            <a:off x="685800" y="2834640"/>
            <a:ext cx="2331720" cy="1005840"/>
          </a:xfrm>
          <a:prstGeom prst="rect">
            <a:avLst/>
          </a:prstGeom>
          <a:noFill/>
          <a:ln/>
        </p:spPr>
        <p:txBody>
          <a:bodyPr wrap="square" lIns="0" tIns="0" rIns="0" bIns="0" rtlCol="0" anchor="ctr"/>
          <a:lstStyle/>
          <a:p>
            <a:pPr indent="0" marL="0">
              <a:buNone/>
            </a:pPr>
            <a:r>
              <a:rPr lang="en-US" sz="1300" dirty="0">
                <a:solidFill>
                  <a:srgbClr val="1C1917"/>
                </a:solidFill>
                <a:latin typeface="IBM Plex Sans" pitchFamily="34" charset="0"/>
                <a:ea typeface="IBM Plex Sans" pitchFamily="34" charset="-122"/>
                <a:cs typeface="IBM Plex Sans" pitchFamily="34" charset="-120"/>
              </a:rPr>
              <a:t>of megaprojects overrun cost by more than 30% — when the site picture is late or split</a:t>
            </a:r>
            <a:endParaRPr lang="en-US" sz="1300" dirty="0"/>
          </a:p>
        </p:txBody>
      </p:sp>
      <p:sp>
        <p:nvSpPr>
          <p:cNvPr id="12" name="Text 9"/>
          <p:cNvSpPr/>
          <p:nvPr/>
        </p:nvSpPr>
        <p:spPr>
          <a:xfrm>
            <a:off x="685800" y="4023360"/>
            <a:ext cx="2331720" cy="256032"/>
          </a:xfrm>
          <a:prstGeom prst="rect">
            <a:avLst/>
          </a:prstGeom>
          <a:noFill/>
          <a:ln/>
        </p:spPr>
        <p:txBody>
          <a:bodyPr wrap="square" lIns="0" tIns="0" rIns="0" bIns="0" rtlCol="0" anchor="ctr"/>
          <a:lstStyle/>
          <a:p>
            <a:pPr indent="0" marL="0">
              <a:buNone/>
            </a:pPr>
            <a:r>
              <a:rPr lang="en-US" sz="1100" u="sng" dirty="0">
                <a:solidFill>
                  <a:srgbClr val="A8A29E"/>
                </a:solidFill>
                <a:latin typeface="IBM Plex Sans" pitchFamily="34" charset="0"/>
                <a:ea typeface="IBM Plex Sans" pitchFamily="34" charset="-122"/>
                <a:cs typeface="IBM Plex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McKinsey, 2015</a:t>
            </a:r>
            <a:endParaRPr lang="en-US" sz="1100" dirty="0"/>
          </a:p>
        </p:txBody>
      </p:sp>
      <p:sp>
        <p:nvSpPr>
          <p:cNvPr id="13" name="Shape 10"/>
          <p:cNvSpPr/>
          <p:nvPr/>
        </p:nvSpPr>
        <p:spPr>
          <a:xfrm>
            <a:off x="3337560" y="1965960"/>
            <a:ext cx="2697480" cy="2423160"/>
          </a:xfrm>
          <a:prstGeom prst="rect">
            <a:avLst/>
          </a:prstGeom>
          <a:solidFill>
            <a:srgbClr val="FFFFFF"/>
          </a:solidFill>
          <a:ln w="12700">
            <a:solidFill>
              <a:srgbClr val="D6D3D1"/>
            </a:solidFill>
            <a:prstDash val="solid"/>
          </a:ln>
        </p:spPr>
      </p:sp>
      <p:sp>
        <p:nvSpPr>
          <p:cNvPr id="14" name="Shape 11"/>
          <p:cNvSpPr/>
          <p:nvPr/>
        </p:nvSpPr>
        <p:spPr>
          <a:xfrm>
            <a:off x="3337560" y="1965960"/>
            <a:ext cx="2697480" cy="73152"/>
          </a:xfrm>
          <a:prstGeom prst="rect">
            <a:avLst/>
          </a:prstGeom>
          <a:solidFill>
            <a:srgbClr val="C2410C"/>
          </a:solidFill>
          <a:ln/>
        </p:spPr>
      </p:sp>
      <p:sp>
        <p:nvSpPr>
          <p:cNvPr id="15" name="Text 12"/>
          <p:cNvSpPr/>
          <p:nvPr/>
        </p:nvSpPr>
        <p:spPr>
          <a:xfrm>
            <a:off x="3520440" y="2176272"/>
            <a:ext cx="2331720" cy="502920"/>
          </a:xfrm>
          <a:prstGeom prst="rect">
            <a:avLst/>
          </a:prstGeom>
          <a:noFill/>
          <a:ln/>
        </p:spPr>
        <p:txBody>
          <a:bodyPr wrap="square" lIns="0" tIns="0" rIns="0" bIns="0" rtlCol="0" anchor="ctr"/>
          <a:lstStyle/>
          <a:p>
            <a:pPr indent="0" marL="0">
              <a:buNone/>
            </a:pPr>
            <a:r>
              <a:rPr lang="en-US" sz="2800" b="1" dirty="0">
                <a:solidFill>
                  <a:srgbClr val="C2410C"/>
                </a:solidFill>
                <a:latin typeface="IBM Plex Sans" pitchFamily="34" charset="0"/>
                <a:ea typeface="IBM Plex Sans" pitchFamily="34" charset="-122"/>
                <a:cs typeface="IBM Plex Sans" pitchFamily="34" charset="-120"/>
              </a:rPr>
              <a:t>Relay</a:t>
            </a:r>
            <a:endParaRPr lang="en-US" sz="2800" dirty="0"/>
          </a:p>
        </p:txBody>
      </p:sp>
      <p:sp>
        <p:nvSpPr>
          <p:cNvPr id="16" name="Text 13"/>
          <p:cNvSpPr/>
          <p:nvPr/>
        </p:nvSpPr>
        <p:spPr>
          <a:xfrm>
            <a:off x="3520440" y="2834640"/>
            <a:ext cx="2331720" cy="1005840"/>
          </a:xfrm>
          <a:prstGeom prst="rect">
            <a:avLst/>
          </a:prstGeom>
          <a:noFill/>
          <a:ln/>
        </p:spPr>
        <p:txBody>
          <a:bodyPr wrap="square" lIns="0" tIns="0" rIns="0" bIns="0" rtlCol="0" anchor="ctr"/>
          <a:lstStyle/>
          <a:p>
            <a:pPr indent="0" marL="0">
              <a:buNone/>
            </a:pPr>
            <a:r>
              <a:rPr lang="en-US" sz="1300" dirty="0">
                <a:solidFill>
                  <a:srgbClr val="1C1917"/>
                </a:solidFill>
                <a:latin typeface="IBM Plex Sans" pitchFamily="34" charset="0"/>
                <a:ea typeface="IBM Plex Sans" pitchFamily="34" charset="-122"/>
                <a:cs typeface="IBM Plex Sans" pitchFamily="34" charset="-120"/>
              </a:rPr>
              <a:t>Field asks → phone chain → lost record. Crew learns when work already stalled.</a:t>
            </a:r>
            <a:endParaRPr lang="en-US" sz="1300" dirty="0"/>
          </a:p>
        </p:txBody>
      </p:sp>
      <p:sp>
        <p:nvSpPr>
          <p:cNvPr id="17" name="Text 14"/>
          <p:cNvSpPr/>
          <p:nvPr/>
        </p:nvSpPr>
        <p:spPr>
          <a:xfrm>
            <a:off x="3520440" y="4023360"/>
            <a:ext cx="2331720" cy="256032"/>
          </a:xfrm>
          <a:prstGeom prst="rect">
            <a:avLst/>
          </a:prstGeom>
          <a:noFill/>
          <a:ln/>
        </p:spPr>
        <p:txBody>
          <a:bodyPr wrap="square" lIns="0" tIns="0" rIns="0" bIns="0" rtlCol="0" anchor="ctr"/>
          <a:lstStyle/>
          <a:p>
            <a:pPr indent="0" marL="0">
              <a:buNone/>
            </a:pPr>
            <a:r>
              <a:rPr lang="en-US" sz="1100" dirty="0">
                <a:solidFill>
                  <a:srgbClr val="A8A29E"/>
                </a:solidFill>
                <a:latin typeface="IBM Plex Sans" pitchFamily="34" charset="0"/>
                <a:ea typeface="IBM Plex Sans" pitchFamily="34" charset="-122"/>
                <a:cs typeface="IBM Plex Sans" pitchFamily="34" charset="-120"/>
              </a:rPr>
              <a:t>Mechanism — next slide</a:t>
            </a:r>
            <a:endParaRPr lang="en-US" sz="1100" dirty="0"/>
          </a:p>
        </p:txBody>
      </p:sp>
      <p:sp>
        <p:nvSpPr>
          <p:cNvPr id="18" name="Shape 15"/>
          <p:cNvSpPr/>
          <p:nvPr/>
        </p:nvSpPr>
        <p:spPr>
          <a:xfrm>
            <a:off x="6172200" y="1965960"/>
            <a:ext cx="2697480" cy="2423160"/>
          </a:xfrm>
          <a:prstGeom prst="rect">
            <a:avLst/>
          </a:prstGeom>
          <a:solidFill>
            <a:srgbClr val="FFFFFF"/>
          </a:solidFill>
          <a:ln w="12700">
            <a:solidFill>
              <a:srgbClr val="D6D3D1"/>
            </a:solidFill>
            <a:prstDash val="solid"/>
          </a:ln>
        </p:spPr>
      </p:sp>
      <p:sp>
        <p:nvSpPr>
          <p:cNvPr id="19" name="Shape 16"/>
          <p:cNvSpPr/>
          <p:nvPr/>
        </p:nvSpPr>
        <p:spPr>
          <a:xfrm>
            <a:off x="6172200" y="1965960"/>
            <a:ext cx="2697480" cy="73152"/>
          </a:xfrm>
          <a:prstGeom prst="rect">
            <a:avLst/>
          </a:prstGeom>
          <a:solidFill>
            <a:srgbClr val="C2410C"/>
          </a:solidFill>
          <a:ln/>
        </p:spPr>
      </p:sp>
      <p:sp>
        <p:nvSpPr>
          <p:cNvPr id="20" name="Text 17"/>
          <p:cNvSpPr/>
          <p:nvPr/>
        </p:nvSpPr>
        <p:spPr>
          <a:xfrm>
            <a:off x="6355080" y="2176272"/>
            <a:ext cx="2331720" cy="502920"/>
          </a:xfrm>
          <a:prstGeom prst="rect">
            <a:avLst/>
          </a:prstGeom>
          <a:noFill/>
          <a:ln/>
        </p:spPr>
        <p:txBody>
          <a:bodyPr wrap="square" lIns="0" tIns="0" rIns="0" bIns="0" rtlCol="0" anchor="ctr"/>
          <a:lstStyle/>
          <a:p>
            <a:pPr indent="0" marL="0">
              <a:buNone/>
            </a:pPr>
            <a:r>
              <a:rPr lang="en-US" sz="3400" b="1" dirty="0">
                <a:solidFill>
                  <a:srgbClr val="C2410C"/>
                </a:solidFill>
                <a:latin typeface="IBM Plex Sans" pitchFamily="34" charset="0"/>
                <a:ea typeface="IBM Plex Sans" pitchFamily="34" charset="-122"/>
                <a:cs typeface="IBM Plex Sans" pitchFamily="34" charset="-120"/>
              </a:rPr>
              <a:t>48%</a:t>
            </a:r>
            <a:endParaRPr lang="en-US" sz="3400" dirty="0"/>
          </a:p>
        </p:txBody>
      </p:sp>
      <p:sp>
        <p:nvSpPr>
          <p:cNvPr id="21" name="Text 18"/>
          <p:cNvSpPr/>
          <p:nvPr/>
        </p:nvSpPr>
        <p:spPr>
          <a:xfrm>
            <a:off x="6355080" y="2834640"/>
            <a:ext cx="2331720" cy="1005840"/>
          </a:xfrm>
          <a:prstGeom prst="rect">
            <a:avLst/>
          </a:prstGeom>
          <a:noFill/>
          <a:ln/>
        </p:spPr>
        <p:txBody>
          <a:bodyPr wrap="square" lIns="0" tIns="0" rIns="0" bIns="0" rtlCol="0" anchor="ctr"/>
          <a:lstStyle/>
          <a:p>
            <a:pPr indent="0" marL="0">
              <a:buNone/>
            </a:pPr>
            <a:r>
              <a:rPr lang="en-US" sz="1300" dirty="0">
                <a:solidFill>
                  <a:srgbClr val="1C1917"/>
                </a:solidFill>
                <a:latin typeface="IBM Plex Sans" pitchFamily="34" charset="0"/>
                <a:ea typeface="IBM Plex Sans" pitchFamily="34" charset="-122"/>
                <a:cs typeface="IBM Plex Sans" pitchFamily="34" charset="-120"/>
              </a:rPr>
              <a:t>of U.S. rework from poor project data and miscommunication ($31.3B)</a:t>
            </a:r>
            <a:endParaRPr lang="en-US" sz="1300" dirty="0"/>
          </a:p>
        </p:txBody>
      </p:sp>
      <p:sp>
        <p:nvSpPr>
          <p:cNvPr id="22" name="Text 19"/>
          <p:cNvSpPr/>
          <p:nvPr/>
        </p:nvSpPr>
        <p:spPr>
          <a:xfrm>
            <a:off x="6355080" y="4023360"/>
            <a:ext cx="2331720" cy="256032"/>
          </a:xfrm>
          <a:prstGeom prst="rect">
            <a:avLst/>
          </a:prstGeom>
          <a:noFill/>
          <a:ln/>
        </p:spPr>
        <p:txBody>
          <a:bodyPr wrap="square" lIns="0" tIns="0" rIns="0" bIns="0" rtlCol="0" anchor="ctr"/>
          <a:lstStyle/>
          <a:p>
            <a:pPr indent="0" marL="0">
              <a:buNone/>
            </a:pPr>
            <a:r>
              <a:rPr lang="en-US" sz="1100" u="sng" dirty="0">
                <a:solidFill>
                  <a:srgbClr val="A8A29E"/>
                </a:solidFill>
                <a:latin typeface="IBM Plex Sans" pitchFamily="34" charset="0"/>
                <a:ea typeface="IBM Plex Sans" pitchFamily="34" charset="-122"/>
                <a:cs typeface="IBM Plex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PlanGrid + FMI, 2018</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C2410C"/>
          </a:solidFill>
          <a:ln w="12700">
            <a:solidFill>
              <a:srgbClr val="C2410C"/>
            </a:solidFill>
            <a:prstDash val="solid"/>
          </a:ln>
        </p:spPr>
      </p:sp>
      <p:sp>
        <p:nvSpPr>
          <p:cNvPr id="3" name="Text 1"/>
          <p:cNvSpPr/>
          <p:nvPr/>
        </p:nvSpPr>
        <p:spPr>
          <a:xfrm>
            <a:off x="502920" y="292608"/>
            <a:ext cx="8046720" cy="256032"/>
          </a:xfrm>
          <a:prstGeom prst="rect">
            <a:avLst/>
          </a:prstGeom>
          <a:noFill/>
          <a:ln/>
        </p:spPr>
        <p:txBody>
          <a:bodyPr wrap="square" lIns="0" tIns="0" rIns="0" bIns="0" rtlCol="0" anchor="ctr"/>
          <a:lstStyle/>
          <a:p>
            <a:pPr indent="0" marL="0">
              <a:buNone/>
            </a:pPr>
            <a:r>
              <a:rPr lang="en-US" sz="1200" b="1" spc="250" kern="0" dirty="0">
                <a:solidFill>
                  <a:srgbClr val="C2410C"/>
                </a:solidFill>
                <a:latin typeface="IBM Plex Sans" pitchFamily="34" charset="0"/>
                <a:ea typeface="IBM Plex Sans" pitchFamily="34" charset="-122"/>
                <a:cs typeface="IBM Plex Sans" pitchFamily="34" charset="-120"/>
              </a:rPr>
              <a:t>WHO</a:t>
            </a:r>
            <a:endParaRPr lang="en-US" sz="1200" dirty="0"/>
          </a:p>
        </p:txBody>
      </p:sp>
      <p:sp>
        <p:nvSpPr>
          <p:cNvPr id="4" name="Text 2"/>
          <p:cNvSpPr/>
          <p:nvPr/>
        </p:nvSpPr>
        <p:spPr>
          <a:xfrm>
            <a:off x="502920" y="530352"/>
            <a:ext cx="8321040" cy="594360"/>
          </a:xfrm>
          <a:prstGeom prst="rect">
            <a:avLst/>
          </a:prstGeom>
          <a:noFill/>
          <a:ln/>
        </p:spPr>
        <p:txBody>
          <a:bodyPr wrap="square" lIns="0" tIns="0" rIns="0" bIns="0" rtlCol="0" anchor="t"/>
          <a:lstStyle/>
          <a:p>
            <a:pPr indent="0" marL="0">
              <a:buNone/>
            </a:pPr>
            <a:r>
              <a:rPr lang="en-US" sz="2400" b="1" dirty="0">
                <a:solidFill>
                  <a:srgbClr val="1C1917"/>
                </a:solidFill>
                <a:latin typeface="IBM Plex Sans" pitchFamily="34" charset="0"/>
                <a:ea typeface="IBM Plex Sans" pitchFamily="34" charset="-122"/>
                <a:cs typeface="IBM Plex Sans" pitchFamily="34" charset="-120"/>
              </a:rPr>
              <a:t>The site hierarchy FieldClaw plugs into</a:t>
            </a:r>
            <a:endParaRPr lang="en-US" sz="2400" dirty="0"/>
          </a:p>
        </p:txBody>
      </p:sp>
      <p:pic>
        <p:nvPicPr>
          <p:cNvPr id="5" name="Image 0" descr="/home/rdksupe/building_shit/buildsync/deck/assets/01-hierarchy.png">    </p:cNvPr>
          <p:cNvPicPr>
            <a:picLocks noChangeAspect="1"/>
          </p:cNvPicPr>
          <p:nvPr/>
        </p:nvPicPr>
        <p:blipFill>
          <a:blip r:embed="rId1"/>
          <a:stretch>
            <a:fillRect/>
          </a:stretch>
        </p:blipFill>
        <p:spPr>
          <a:xfrm>
            <a:off x="640080" y="1051560"/>
            <a:ext cx="7863840" cy="39319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C2410C"/>
          </a:solidFill>
          <a:ln w="12700">
            <a:solidFill>
              <a:srgbClr val="C2410C"/>
            </a:solidFill>
            <a:prstDash val="solid"/>
          </a:ln>
        </p:spPr>
      </p:sp>
      <p:sp>
        <p:nvSpPr>
          <p:cNvPr id="3" name="Text 1"/>
          <p:cNvSpPr/>
          <p:nvPr/>
        </p:nvSpPr>
        <p:spPr>
          <a:xfrm>
            <a:off x="502920" y="292608"/>
            <a:ext cx="8046720" cy="256032"/>
          </a:xfrm>
          <a:prstGeom prst="rect">
            <a:avLst/>
          </a:prstGeom>
          <a:noFill/>
          <a:ln/>
        </p:spPr>
        <p:txBody>
          <a:bodyPr wrap="square" lIns="0" tIns="0" rIns="0" bIns="0" rtlCol="0" anchor="ctr"/>
          <a:lstStyle/>
          <a:p>
            <a:pPr indent="0" marL="0">
              <a:buNone/>
            </a:pPr>
            <a:r>
              <a:rPr lang="en-US" sz="1200" b="1" spc="250" kern="0" dirty="0">
                <a:solidFill>
                  <a:srgbClr val="C2410C"/>
                </a:solidFill>
                <a:latin typeface="IBM Plex Sans" pitchFamily="34" charset="0"/>
                <a:ea typeface="IBM Plex Sans" pitchFamily="34" charset="-122"/>
                <a:cs typeface="IBM Plex Sans" pitchFamily="34" charset="-120"/>
              </a:rPr>
              <a:t>PROBLEM</a:t>
            </a:r>
            <a:endParaRPr lang="en-US" sz="1200" dirty="0"/>
          </a:p>
        </p:txBody>
      </p:sp>
      <p:sp>
        <p:nvSpPr>
          <p:cNvPr id="4" name="Text 2"/>
          <p:cNvSpPr/>
          <p:nvPr/>
        </p:nvSpPr>
        <p:spPr>
          <a:xfrm>
            <a:off x="502920" y="530352"/>
            <a:ext cx="8321040" cy="594360"/>
          </a:xfrm>
          <a:prstGeom prst="rect">
            <a:avLst/>
          </a:prstGeom>
          <a:noFill/>
          <a:ln/>
        </p:spPr>
        <p:txBody>
          <a:bodyPr wrap="square" lIns="0" tIns="0" rIns="0" bIns="0" rtlCol="0" anchor="t"/>
          <a:lstStyle/>
          <a:p>
            <a:pPr indent="0" marL="0">
              <a:buNone/>
            </a:pPr>
            <a:r>
              <a:rPr lang="en-US" sz="2400" b="1" dirty="0">
                <a:solidFill>
                  <a:srgbClr val="1C1917"/>
                </a:solidFill>
                <a:latin typeface="IBM Plex Sans" pitchFamily="34" charset="0"/>
                <a:ea typeface="IBM Plex Sans" pitchFamily="34" charset="-122"/>
                <a:cs typeface="IBM Plex Sans" pitchFamily="34" charset="-120"/>
              </a:rPr>
              <a:t>How information moves today</a:t>
            </a:r>
            <a:endParaRPr lang="en-US" sz="2400" dirty="0"/>
          </a:p>
        </p:txBody>
      </p:sp>
      <p:pic>
        <p:nvPicPr>
          <p:cNvPr id="5" name="Image 0" descr="/home/rdksupe/building_shit/buildsync/deck/assets/02-broken-latency.png">    </p:cNvPr>
          <p:cNvPicPr>
            <a:picLocks noChangeAspect="1"/>
          </p:cNvPicPr>
          <p:nvPr/>
        </p:nvPicPr>
        <p:blipFill>
          <a:blip r:embed="rId1"/>
          <a:stretch>
            <a:fillRect/>
          </a:stretch>
        </p:blipFill>
        <p:spPr>
          <a:xfrm>
            <a:off x="443484" y="1051560"/>
            <a:ext cx="8257032" cy="39319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C2410C"/>
          </a:solidFill>
          <a:ln w="12700">
            <a:solidFill>
              <a:srgbClr val="C2410C"/>
            </a:solidFill>
            <a:prstDash val="solid"/>
          </a:ln>
        </p:spPr>
      </p:sp>
      <p:sp>
        <p:nvSpPr>
          <p:cNvPr id="3" name="Text 1"/>
          <p:cNvSpPr/>
          <p:nvPr/>
        </p:nvSpPr>
        <p:spPr>
          <a:xfrm>
            <a:off x="502920" y="292608"/>
            <a:ext cx="8046720" cy="256032"/>
          </a:xfrm>
          <a:prstGeom prst="rect">
            <a:avLst/>
          </a:prstGeom>
          <a:noFill/>
          <a:ln/>
        </p:spPr>
        <p:txBody>
          <a:bodyPr wrap="square" lIns="0" tIns="0" rIns="0" bIns="0" rtlCol="0" anchor="ctr"/>
          <a:lstStyle/>
          <a:p>
            <a:pPr indent="0" marL="0">
              <a:buNone/>
            </a:pPr>
            <a:r>
              <a:rPr lang="en-US" sz="1200" b="1" spc="250" kern="0" dirty="0">
                <a:solidFill>
                  <a:srgbClr val="C2410C"/>
                </a:solidFill>
                <a:latin typeface="IBM Plex Sans" pitchFamily="34" charset="0"/>
                <a:ea typeface="IBM Plex Sans" pitchFamily="34" charset="-122"/>
                <a:cs typeface="IBM Plex Sans" pitchFamily="34" charset="-120"/>
              </a:rPr>
              <a:t>SOLUTION</a:t>
            </a:r>
            <a:endParaRPr lang="en-US" sz="1200" dirty="0"/>
          </a:p>
        </p:txBody>
      </p:sp>
      <p:sp>
        <p:nvSpPr>
          <p:cNvPr id="4" name="Text 2"/>
          <p:cNvSpPr/>
          <p:nvPr/>
        </p:nvSpPr>
        <p:spPr>
          <a:xfrm>
            <a:off x="502920" y="502920"/>
            <a:ext cx="8321040" cy="548640"/>
          </a:xfrm>
          <a:prstGeom prst="rect">
            <a:avLst/>
          </a:prstGeom>
          <a:noFill/>
          <a:ln/>
        </p:spPr>
        <p:txBody>
          <a:bodyPr wrap="square" lIns="0" tIns="0" rIns="0" bIns="0" rtlCol="0" anchor="t"/>
          <a:lstStyle/>
          <a:p>
            <a:pPr indent="0" marL="0">
              <a:buNone/>
            </a:pPr>
            <a:r>
              <a:rPr lang="en-US" sz="2600" b="1" dirty="0">
                <a:solidFill>
                  <a:srgbClr val="1C1917"/>
                </a:solidFill>
                <a:latin typeface="IBM Plex Sans" pitchFamily="34" charset="0"/>
                <a:ea typeface="IBM Plex Sans" pitchFamily="34" charset="-122"/>
                <a:cs typeface="IBM Plex Sans" pitchFamily="34" charset="-120"/>
              </a:rPr>
              <a:t>Skip the relay. Keep the decision human.</a:t>
            </a:r>
            <a:endParaRPr lang="en-US" sz="2600" dirty="0"/>
          </a:p>
        </p:txBody>
      </p:sp>
      <p:sp>
        <p:nvSpPr>
          <p:cNvPr id="5" name="Text 3"/>
          <p:cNvSpPr/>
          <p:nvPr/>
        </p:nvSpPr>
        <p:spPr>
          <a:xfrm>
            <a:off x="640080" y="1371600"/>
            <a:ext cx="7863840" cy="3291840"/>
          </a:xfrm>
          <a:prstGeom prst="rect">
            <a:avLst/>
          </a:prstGeom>
          <a:noFill/>
          <a:ln/>
        </p:spPr>
        <p:txBody>
          <a:bodyPr wrap="square" lIns="0" tIns="0" rIns="0" bIns="0" rtlCol="0" anchor="t"/>
          <a:lstStyle/>
          <a:p>
            <a:pPr indent="0" marL="0">
              <a:spcAft>
                <a:spcPts val="1200"/>
              </a:spcAft>
              <a:buNone/>
            </a:pPr>
            <a:r>
              <a:rPr lang="en-US" sz="1700" dirty="0">
                <a:solidFill>
                  <a:srgbClr val="57534E"/>
                </a:solidFill>
                <a:latin typeface="IBM Plex Sans" pitchFamily="34" charset="0"/>
                <a:ea typeface="IBM Plex Sans" pitchFamily="34" charset="-122"/>
                <a:cs typeface="IBM Plex Sans" pitchFamily="34" charset="-120"/>
              </a:rPr>
              <a:t>A phone call still fails when the foreman lacks the PO, the drawing, or the authority. The record dies when someone hangs up. The crew learns the answer when work has already stalled.</a:t>
            </a:r>
            <a:endParaRPr lang="en-US" sz="1700" dirty="0"/>
          </a:p>
          <a:p>
            <a:pPr indent="0" marL="0">
              <a:spcAft>
                <a:spcPts val="1200"/>
              </a:spcAft>
              <a:buNone/>
            </a:pPr>
            <a:endParaRPr lang="en-US" sz="1700" dirty="0"/>
          </a:p>
          <a:p>
            <a:pPr indent="0" marL="0">
              <a:spcAft>
                <a:spcPts val="1200"/>
              </a:spcAft>
              <a:buNone/>
            </a:pPr>
            <a:r>
              <a:rPr lang="en-US" sz="1700" dirty="0">
                <a:solidFill>
                  <a:srgbClr val="57534E"/>
                </a:solidFill>
                <a:latin typeface="IBM Plex Sans" pitchFamily="34" charset="0"/>
                <a:ea typeface="IBM Plex Sans" pitchFamily="34" charset="-122"/>
                <a:cs typeface="IBM Plex Sans" pitchFamily="34" charset="-120"/>
              </a:rPr>
              <a:t>FieldClaw replaces that relay. Foremen report by voice from the site. The report is structured, matched to read-side PO context, and landed in one ops picture for the superintendent. Judgment stays with the super — the lost record and the phone chain do not.</a:t>
            </a:r>
            <a:endParaRPr lang="en-US" sz="1700" dirty="0"/>
          </a:p>
          <a:p>
            <a:pPr indent="0" marL="0">
              <a:spcAft>
                <a:spcPts val="1200"/>
              </a:spcAft>
              <a:buNone/>
            </a:pPr>
            <a:endParaRPr lang="en-US" sz="1700" dirty="0"/>
          </a:p>
          <a:p>
            <a:pPr indent="0" marL="0">
              <a:spcAft>
                <a:spcPts val="1200"/>
              </a:spcAft>
              <a:buNone/>
            </a:pPr>
            <a:r>
              <a:rPr lang="en-US" sz="1700" dirty="0">
                <a:solidFill>
                  <a:srgbClr val="57534E"/>
                </a:solidFill>
                <a:latin typeface="IBM Plex Sans" pitchFamily="34" charset="0"/>
                <a:ea typeface="IBM Plex Sans" pitchFamily="34" charset="-122"/>
                <a:cs typeface="IBM Plex Sans" pitchFamily="34" charset="-120"/>
              </a:rPr>
              <a:t>Voice → structure → schedule flag → human decision → answer back to the field. Next: how that path runs.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C2410C"/>
          </a:solidFill>
          <a:ln w="12700">
            <a:solidFill>
              <a:srgbClr val="C2410C"/>
            </a:solidFill>
            <a:prstDash val="solid"/>
          </a:ln>
        </p:spPr>
      </p:sp>
      <p:sp>
        <p:nvSpPr>
          <p:cNvPr id="3" name="Text 1"/>
          <p:cNvSpPr/>
          <p:nvPr/>
        </p:nvSpPr>
        <p:spPr>
          <a:xfrm>
            <a:off x="502920" y="292608"/>
            <a:ext cx="8046720" cy="256032"/>
          </a:xfrm>
          <a:prstGeom prst="rect">
            <a:avLst/>
          </a:prstGeom>
          <a:noFill/>
          <a:ln/>
        </p:spPr>
        <p:txBody>
          <a:bodyPr wrap="square" lIns="0" tIns="0" rIns="0" bIns="0" rtlCol="0" anchor="ctr"/>
          <a:lstStyle/>
          <a:p>
            <a:pPr indent="0" marL="0">
              <a:buNone/>
            </a:pPr>
            <a:r>
              <a:rPr lang="en-US" sz="1200" b="1" spc="250" kern="0" dirty="0">
                <a:solidFill>
                  <a:srgbClr val="C2410C"/>
                </a:solidFill>
                <a:latin typeface="IBM Plex Sans" pitchFamily="34" charset="0"/>
                <a:ea typeface="IBM Plex Sans" pitchFamily="34" charset="-122"/>
                <a:cs typeface="IBM Plex Sans" pitchFamily="34" charset="-120"/>
              </a:rPr>
              <a:t>PRODUCT</a:t>
            </a:r>
            <a:endParaRPr lang="en-US" sz="1200" dirty="0"/>
          </a:p>
        </p:txBody>
      </p:sp>
      <p:sp>
        <p:nvSpPr>
          <p:cNvPr id="4" name="Text 2"/>
          <p:cNvSpPr/>
          <p:nvPr/>
        </p:nvSpPr>
        <p:spPr>
          <a:xfrm>
            <a:off x="502920" y="475488"/>
            <a:ext cx="8321040" cy="384048"/>
          </a:xfrm>
          <a:prstGeom prst="rect">
            <a:avLst/>
          </a:prstGeom>
          <a:noFill/>
          <a:ln/>
        </p:spPr>
        <p:txBody>
          <a:bodyPr wrap="square" lIns="0" tIns="0" rIns="0" bIns="0" rtlCol="0" anchor="t"/>
          <a:lstStyle/>
          <a:p>
            <a:pPr indent="0" marL="0">
              <a:buNone/>
            </a:pPr>
            <a:r>
              <a:rPr lang="en-US" sz="2200" b="1" dirty="0">
                <a:solidFill>
                  <a:srgbClr val="1C1917"/>
                </a:solidFill>
                <a:latin typeface="IBM Plex Sans" pitchFamily="34" charset="0"/>
                <a:ea typeface="IBM Plex Sans" pitchFamily="34" charset="-122"/>
                <a:cs typeface="IBM Plex Sans" pitchFamily="34" charset="-120"/>
              </a:rPr>
              <a:t>How information moves with FieldClaw</a:t>
            </a:r>
            <a:endParaRPr lang="en-US" sz="2200" dirty="0"/>
          </a:p>
        </p:txBody>
      </p:sp>
      <p:pic>
        <p:nvPicPr>
          <p:cNvPr id="5" name="Image 0" descr="/home/rdksupe/building_shit/buildsync/deck/assets/04-how-it-works.png">    </p:cNvPr>
          <p:cNvPicPr>
            <a:picLocks noChangeAspect="1"/>
          </p:cNvPicPr>
          <p:nvPr/>
        </p:nvPicPr>
        <p:blipFill>
          <a:blip r:embed="rId1"/>
          <a:stretch>
            <a:fillRect/>
          </a:stretch>
        </p:blipFill>
        <p:spPr>
          <a:xfrm>
            <a:off x="91440" y="981456"/>
            <a:ext cx="8961120" cy="392582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C2410C"/>
          </a:solidFill>
          <a:ln w="12700">
            <a:solidFill>
              <a:srgbClr val="C2410C"/>
            </a:solidFill>
            <a:prstDash val="solid"/>
          </a:ln>
        </p:spPr>
      </p:sp>
      <p:sp>
        <p:nvSpPr>
          <p:cNvPr id="3" name="Text 1"/>
          <p:cNvSpPr/>
          <p:nvPr/>
        </p:nvSpPr>
        <p:spPr>
          <a:xfrm>
            <a:off x="502920" y="292608"/>
            <a:ext cx="8046720" cy="256032"/>
          </a:xfrm>
          <a:prstGeom prst="rect">
            <a:avLst/>
          </a:prstGeom>
          <a:noFill/>
          <a:ln/>
        </p:spPr>
        <p:txBody>
          <a:bodyPr wrap="square" lIns="0" tIns="0" rIns="0" bIns="0" rtlCol="0" anchor="ctr"/>
          <a:lstStyle/>
          <a:p>
            <a:pPr indent="0" marL="0">
              <a:buNone/>
            </a:pPr>
            <a:r>
              <a:rPr lang="en-US" sz="1200" b="1" spc="250" kern="0" dirty="0">
                <a:solidFill>
                  <a:srgbClr val="C2410C"/>
                </a:solidFill>
                <a:latin typeface="IBM Plex Sans" pitchFamily="34" charset="0"/>
                <a:ea typeface="IBM Plex Sans" pitchFamily="34" charset="-122"/>
                <a:cs typeface="IBM Plex Sans" pitchFamily="34" charset="-120"/>
              </a:rPr>
              <a:t>USE CASES</a:t>
            </a:r>
            <a:endParaRPr lang="en-US" sz="1200" dirty="0"/>
          </a:p>
        </p:txBody>
      </p:sp>
      <p:sp>
        <p:nvSpPr>
          <p:cNvPr id="4" name="Text 2"/>
          <p:cNvSpPr/>
          <p:nvPr/>
        </p:nvSpPr>
        <p:spPr>
          <a:xfrm>
            <a:off x="502920" y="475488"/>
            <a:ext cx="8321040" cy="365760"/>
          </a:xfrm>
          <a:prstGeom prst="rect">
            <a:avLst/>
          </a:prstGeom>
          <a:noFill/>
          <a:ln/>
        </p:spPr>
        <p:txBody>
          <a:bodyPr wrap="square" lIns="0" tIns="0" rIns="0" bIns="0" rtlCol="0" anchor="t"/>
          <a:lstStyle/>
          <a:p>
            <a:pPr indent="0" marL="0">
              <a:buNone/>
            </a:pPr>
            <a:r>
              <a:rPr lang="en-US" sz="2200" b="1" dirty="0">
                <a:solidFill>
                  <a:srgbClr val="1C1917"/>
                </a:solidFill>
                <a:latin typeface="IBM Plex Sans" pitchFamily="34" charset="0"/>
                <a:ea typeface="IBM Plex Sans" pitchFamily="34" charset="-122"/>
                <a:cs typeface="IBM Plex Sans" pitchFamily="34" charset="-120"/>
              </a:rPr>
              <a:t>On-ground realities FieldClaw handles</a:t>
            </a:r>
            <a:endParaRPr lang="en-US" sz="2200" dirty="0"/>
          </a:p>
        </p:txBody>
      </p:sp>
      <p:sp>
        <p:nvSpPr>
          <p:cNvPr id="5" name="Text 3"/>
          <p:cNvSpPr/>
          <p:nvPr/>
        </p:nvSpPr>
        <p:spPr>
          <a:xfrm>
            <a:off x="502920" y="868680"/>
            <a:ext cx="8138160" cy="256032"/>
          </a:xfrm>
          <a:prstGeom prst="rect">
            <a:avLst/>
          </a:prstGeom>
          <a:noFill/>
          <a:ln/>
        </p:spPr>
        <p:txBody>
          <a:bodyPr wrap="square" lIns="0" tIns="0" rIns="0" bIns="0" rtlCol="0" anchor="ctr"/>
          <a:lstStyle/>
          <a:p>
            <a:pPr indent="0" marL="0">
              <a:buNone/>
            </a:pPr>
            <a:r>
              <a:rPr lang="en-US" sz="1300" dirty="0">
                <a:solidFill>
                  <a:srgbClr val="57534E"/>
                </a:solidFill>
                <a:latin typeface="IBM Plex Sans" pitchFamily="34" charset="0"/>
                <a:ea typeface="IBM Plex Sans" pitchFamily="34" charset="-122"/>
                <a:cs typeface="IBM Plex Sans" pitchFamily="34" charset="-120"/>
              </a:rPr>
              <a:t>What foremen and crew report that tools today still miss.</a:t>
            </a:r>
            <a:endParaRPr lang="en-US" sz="1300" dirty="0"/>
          </a:p>
        </p:txBody>
      </p:sp>
      <p:sp>
        <p:nvSpPr>
          <p:cNvPr id="6" name="Shape 4"/>
          <p:cNvSpPr/>
          <p:nvPr/>
        </p:nvSpPr>
        <p:spPr>
          <a:xfrm>
            <a:off x="411480" y="1280160"/>
            <a:ext cx="1627632" cy="1554480"/>
          </a:xfrm>
          <a:prstGeom prst="rect">
            <a:avLst/>
          </a:prstGeom>
          <a:solidFill>
            <a:srgbClr val="FFFFFF"/>
          </a:solidFill>
          <a:ln w="12700">
            <a:solidFill>
              <a:srgbClr val="D6D3D1"/>
            </a:solidFill>
            <a:prstDash val="solid"/>
          </a:ln>
        </p:spPr>
      </p:sp>
      <p:sp>
        <p:nvSpPr>
          <p:cNvPr id="7" name="Shape 5"/>
          <p:cNvSpPr/>
          <p:nvPr/>
        </p:nvSpPr>
        <p:spPr>
          <a:xfrm>
            <a:off x="411480" y="1280160"/>
            <a:ext cx="1627632" cy="64008"/>
          </a:xfrm>
          <a:prstGeom prst="rect">
            <a:avLst/>
          </a:prstGeom>
          <a:solidFill>
            <a:srgbClr val="C2410C"/>
          </a:solidFill>
          <a:ln/>
        </p:spPr>
      </p:sp>
      <p:sp>
        <p:nvSpPr>
          <p:cNvPr id="8" name="Text 6"/>
          <p:cNvSpPr/>
          <p:nvPr/>
        </p:nvSpPr>
        <p:spPr>
          <a:xfrm>
            <a:off x="502920" y="1508760"/>
            <a:ext cx="1444752" cy="502920"/>
          </a:xfrm>
          <a:prstGeom prst="rect">
            <a:avLst/>
          </a:prstGeom>
          <a:noFill/>
          <a:ln/>
        </p:spPr>
        <p:txBody>
          <a:bodyPr wrap="square" lIns="0" tIns="0" rIns="0" bIns="0" rtlCol="0" anchor="t"/>
          <a:lstStyle/>
          <a:p>
            <a:pPr indent="0" marL="0">
              <a:buNone/>
            </a:pPr>
            <a:r>
              <a:rPr lang="en-US" sz="1300" b="1" dirty="0">
                <a:solidFill>
                  <a:srgbClr val="1C1917"/>
                </a:solidFill>
                <a:latin typeface="IBM Plex Sans" pitchFamily="34" charset="0"/>
                <a:ea typeface="IBM Plex Sans" pitchFamily="34" charset="-122"/>
                <a:cs typeface="IBM Plex Sans" pitchFamily="34" charset="-120"/>
              </a:rPr>
              <a:t>Daily progress</a:t>
            </a:r>
            <a:endParaRPr lang="en-US" sz="1300" dirty="0"/>
          </a:p>
        </p:txBody>
      </p:sp>
      <p:sp>
        <p:nvSpPr>
          <p:cNvPr id="9" name="Text 7"/>
          <p:cNvSpPr/>
          <p:nvPr/>
        </p:nvSpPr>
        <p:spPr>
          <a:xfrm>
            <a:off x="502920" y="2057400"/>
            <a:ext cx="1444752" cy="640080"/>
          </a:xfrm>
          <a:prstGeom prst="rect">
            <a:avLst/>
          </a:prstGeom>
          <a:noFill/>
          <a:ln/>
        </p:spPr>
        <p:txBody>
          <a:bodyPr wrap="square" lIns="0" tIns="0" rIns="0" bIns="0" rtlCol="0" anchor="t"/>
          <a:lstStyle/>
          <a:p>
            <a:pPr indent="0" marL="0">
              <a:buNone/>
            </a:pPr>
            <a:r>
              <a:rPr lang="en-US" sz="1200" dirty="0">
                <a:solidFill>
                  <a:srgbClr val="57534E"/>
                </a:solidFill>
                <a:latin typeface="IBM Plex Sans" pitchFamily="34" charset="0"/>
                <a:ea typeface="IBM Plex Sans" pitchFamily="34" charset="-122"/>
                <a:cs typeface="IBM Plex Sans" pitchFamily="34" charset="-120"/>
              </a:rPr>
              <a:t>Zone updates → Gantt shift · ahead/behind flags</a:t>
            </a:r>
            <a:endParaRPr lang="en-US" sz="1200" dirty="0"/>
          </a:p>
        </p:txBody>
      </p:sp>
      <p:sp>
        <p:nvSpPr>
          <p:cNvPr id="10" name="Shape 8"/>
          <p:cNvSpPr/>
          <p:nvPr/>
        </p:nvSpPr>
        <p:spPr>
          <a:xfrm>
            <a:off x="2130552" y="1280160"/>
            <a:ext cx="1627632" cy="1554480"/>
          </a:xfrm>
          <a:prstGeom prst="rect">
            <a:avLst/>
          </a:prstGeom>
          <a:solidFill>
            <a:srgbClr val="FFFFFF"/>
          </a:solidFill>
          <a:ln w="12700">
            <a:solidFill>
              <a:srgbClr val="D6D3D1"/>
            </a:solidFill>
            <a:prstDash val="solid"/>
          </a:ln>
        </p:spPr>
      </p:sp>
      <p:sp>
        <p:nvSpPr>
          <p:cNvPr id="11" name="Shape 9"/>
          <p:cNvSpPr/>
          <p:nvPr/>
        </p:nvSpPr>
        <p:spPr>
          <a:xfrm>
            <a:off x="2130552" y="1280160"/>
            <a:ext cx="1627632" cy="64008"/>
          </a:xfrm>
          <a:prstGeom prst="rect">
            <a:avLst/>
          </a:prstGeom>
          <a:solidFill>
            <a:srgbClr val="C2410C"/>
          </a:solidFill>
          <a:ln/>
        </p:spPr>
      </p:sp>
      <p:sp>
        <p:nvSpPr>
          <p:cNvPr id="12" name="Text 10"/>
          <p:cNvSpPr/>
          <p:nvPr/>
        </p:nvSpPr>
        <p:spPr>
          <a:xfrm>
            <a:off x="2221992" y="1508760"/>
            <a:ext cx="1444752" cy="502920"/>
          </a:xfrm>
          <a:prstGeom prst="rect">
            <a:avLst/>
          </a:prstGeom>
          <a:noFill/>
          <a:ln/>
        </p:spPr>
        <p:txBody>
          <a:bodyPr wrap="square" lIns="0" tIns="0" rIns="0" bIns="0" rtlCol="0" anchor="t"/>
          <a:lstStyle/>
          <a:p>
            <a:pPr indent="0" marL="0">
              <a:buNone/>
            </a:pPr>
            <a:r>
              <a:rPr lang="en-US" sz="1300" b="1" dirty="0">
                <a:solidFill>
                  <a:srgbClr val="1C1917"/>
                </a:solidFill>
                <a:latin typeface="IBM Plex Sans" pitchFamily="34" charset="0"/>
                <a:ea typeface="IBM Plex Sans" pitchFamily="34" charset="-122"/>
                <a:cs typeface="IBM Plex Sans" pitchFamily="34" charset="-120"/>
              </a:rPr>
              <a:t>Material shortages</a:t>
            </a:r>
            <a:endParaRPr lang="en-US" sz="1300" dirty="0"/>
          </a:p>
        </p:txBody>
      </p:sp>
      <p:sp>
        <p:nvSpPr>
          <p:cNvPr id="13" name="Text 11"/>
          <p:cNvSpPr/>
          <p:nvPr/>
        </p:nvSpPr>
        <p:spPr>
          <a:xfrm>
            <a:off x="2221992" y="2057400"/>
            <a:ext cx="1444752" cy="640080"/>
          </a:xfrm>
          <a:prstGeom prst="rect">
            <a:avLst/>
          </a:prstGeom>
          <a:noFill/>
          <a:ln/>
        </p:spPr>
        <p:txBody>
          <a:bodyPr wrap="square" lIns="0" tIns="0" rIns="0" bIns="0" rtlCol="0" anchor="t"/>
          <a:lstStyle/>
          <a:p>
            <a:pPr indent="0" marL="0">
              <a:buNone/>
            </a:pPr>
            <a:r>
              <a:rPr lang="en-US" sz="1200" dirty="0">
                <a:solidFill>
                  <a:srgbClr val="57534E"/>
                </a:solidFill>
                <a:latin typeface="IBM Plex Sans" pitchFamily="34" charset="0"/>
                <a:ea typeface="IBM Plex Sans" pitchFamily="34" charset="-122"/>
                <a:cs typeface="IBM Plex Sans" pitchFamily="34" charset="-120"/>
              </a:rPr>
              <a:t>Voice shortage → PO match or super flag</a:t>
            </a:r>
            <a:endParaRPr lang="en-US" sz="1200" dirty="0"/>
          </a:p>
        </p:txBody>
      </p:sp>
      <p:sp>
        <p:nvSpPr>
          <p:cNvPr id="14" name="Shape 12"/>
          <p:cNvSpPr/>
          <p:nvPr/>
        </p:nvSpPr>
        <p:spPr>
          <a:xfrm>
            <a:off x="3849624" y="1280160"/>
            <a:ext cx="1627632" cy="1554480"/>
          </a:xfrm>
          <a:prstGeom prst="rect">
            <a:avLst/>
          </a:prstGeom>
          <a:solidFill>
            <a:srgbClr val="FFFFFF"/>
          </a:solidFill>
          <a:ln w="12700">
            <a:solidFill>
              <a:srgbClr val="D6D3D1"/>
            </a:solidFill>
            <a:prstDash val="solid"/>
          </a:ln>
        </p:spPr>
      </p:sp>
      <p:sp>
        <p:nvSpPr>
          <p:cNvPr id="15" name="Shape 13"/>
          <p:cNvSpPr/>
          <p:nvPr/>
        </p:nvSpPr>
        <p:spPr>
          <a:xfrm>
            <a:off x="3849624" y="1280160"/>
            <a:ext cx="1627632" cy="64008"/>
          </a:xfrm>
          <a:prstGeom prst="rect">
            <a:avLst/>
          </a:prstGeom>
          <a:solidFill>
            <a:srgbClr val="C2410C"/>
          </a:solidFill>
          <a:ln/>
        </p:spPr>
      </p:sp>
      <p:sp>
        <p:nvSpPr>
          <p:cNvPr id="16" name="Text 14"/>
          <p:cNvSpPr/>
          <p:nvPr/>
        </p:nvSpPr>
        <p:spPr>
          <a:xfrm>
            <a:off x="3941064" y="1508760"/>
            <a:ext cx="1444752" cy="502920"/>
          </a:xfrm>
          <a:prstGeom prst="rect">
            <a:avLst/>
          </a:prstGeom>
          <a:noFill/>
          <a:ln/>
        </p:spPr>
        <p:txBody>
          <a:bodyPr wrap="square" lIns="0" tIns="0" rIns="0" bIns="0" rtlCol="0" anchor="t"/>
          <a:lstStyle/>
          <a:p>
            <a:pPr indent="0" marL="0">
              <a:buNone/>
            </a:pPr>
            <a:r>
              <a:rPr lang="en-US" sz="1300" b="1" dirty="0">
                <a:solidFill>
                  <a:srgbClr val="1C1917"/>
                </a:solidFill>
                <a:latin typeface="IBM Plex Sans" pitchFamily="34" charset="0"/>
                <a:ea typeface="IBM Plex Sans" pitchFamily="34" charset="-122"/>
                <a:cs typeface="IBM Plex Sans" pitchFamily="34" charset="-120"/>
              </a:rPr>
              <a:t>Quality issues</a:t>
            </a:r>
            <a:endParaRPr lang="en-US" sz="1300" dirty="0"/>
          </a:p>
        </p:txBody>
      </p:sp>
      <p:sp>
        <p:nvSpPr>
          <p:cNvPr id="17" name="Text 15"/>
          <p:cNvSpPr/>
          <p:nvPr/>
        </p:nvSpPr>
        <p:spPr>
          <a:xfrm>
            <a:off x="3941064" y="2057400"/>
            <a:ext cx="1444752" cy="640080"/>
          </a:xfrm>
          <a:prstGeom prst="rect">
            <a:avLst/>
          </a:prstGeom>
          <a:noFill/>
          <a:ln/>
        </p:spPr>
        <p:txBody>
          <a:bodyPr wrap="square" lIns="0" tIns="0" rIns="0" bIns="0" rtlCol="0" anchor="t"/>
          <a:lstStyle/>
          <a:p>
            <a:pPr indent="0" marL="0">
              <a:buNone/>
            </a:pPr>
            <a:r>
              <a:rPr lang="en-US" sz="1200" dirty="0">
                <a:solidFill>
                  <a:srgbClr val="57534E"/>
                </a:solidFill>
                <a:latin typeface="IBM Plex Sans" pitchFamily="34" charset="0"/>
                <a:ea typeface="IBM Plex Sans" pitchFamily="34" charset="-122"/>
                <a:cs typeface="IBM Plex Sans" pitchFamily="34" charset="-120"/>
              </a:rPr>
              <a:t>Observation + location · rework → schedule impact</a:t>
            </a:r>
            <a:endParaRPr lang="en-US" sz="1200" dirty="0"/>
          </a:p>
        </p:txBody>
      </p:sp>
      <p:sp>
        <p:nvSpPr>
          <p:cNvPr id="18" name="Shape 16"/>
          <p:cNvSpPr/>
          <p:nvPr/>
        </p:nvSpPr>
        <p:spPr>
          <a:xfrm>
            <a:off x="5568696" y="1280160"/>
            <a:ext cx="1627632" cy="1554480"/>
          </a:xfrm>
          <a:prstGeom prst="rect">
            <a:avLst/>
          </a:prstGeom>
          <a:solidFill>
            <a:srgbClr val="FFFFFF"/>
          </a:solidFill>
          <a:ln w="12700">
            <a:solidFill>
              <a:srgbClr val="D6D3D1"/>
            </a:solidFill>
            <a:prstDash val="solid"/>
          </a:ln>
        </p:spPr>
      </p:sp>
      <p:sp>
        <p:nvSpPr>
          <p:cNvPr id="19" name="Shape 17"/>
          <p:cNvSpPr/>
          <p:nvPr/>
        </p:nvSpPr>
        <p:spPr>
          <a:xfrm>
            <a:off x="5568696" y="1280160"/>
            <a:ext cx="1627632" cy="64008"/>
          </a:xfrm>
          <a:prstGeom prst="rect">
            <a:avLst/>
          </a:prstGeom>
          <a:solidFill>
            <a:srgbClr val="C2410C"/>
          </a:solidFill>
          <a:ln/>
        </p:spPr>
      </p:sp>
      <p:sp>
        <p:nvSpPr>
          <p:cNvPr id="20" name="Text 18"/>
          <p:cNvSpPr/>
          <p:nvPr/>
        </p:nvSpPr>
        <p:spPr>
          <a:xfrm>
            <a:off x="5660136" y="1508760"/>
            <a:ext cx="1444752" cy="502920"/>
          </a:xfrm>
          <a:prstGeom prst="rect">
            <a:avLst/>
          </a:prstGeom>
          <a:noFill/>
          <a:ln/>
        </p:spPr>
        <p:txBody>
          <a:bodyPr wrap="square" lIns="0" tIns="0" rIns="0" bIns="0" rtlCol="0" anchor="t"/>
          <a:lstStyle/>
          <a:p>
            <a:pPr indent="0" marL="0">
              <a:buNone/>
            </a:pPr>
            <a:r>
              <a:rPr lang="en-US" sz="1300" b="1" dirty="0">
                <a:solidFill>
                  <a:srgbClr val="1C1917"/>
                </a:solidFill>
                <a:latin typeface="IBM Plex Sans" pitchFamily="34" charset="0"/>
                <a:ea typeface="IBM Plex Sans" pitchFamily="34" charset="-122"/>
                <a:cs typeface="IBM Plex Sans" pitchFamily="34" charset="-120"/>
              </a:rPr>
              <a:t>Safety / near misses</a:t>
            </a:r>
            <a:endParaRPr lang="en-US" sz="1300" dirty="0"/>
          </a:p>
        </p:txBody>
      </p:sp>
      <p:sp>
        <p:nvSpPr>
          <p:cNvPr id="21" name="Text 19"/>
          <p:cNvSpPr/>
          <p:nvPr/>
        </p:nvSpPr>
        <p:spPr>
          <a:xfrm>
            <a:off x="5660136" y="2057400"/>
            <a:ext cx="1444752" cy="640080"/>
          </a:xfrm>
          <a:prstGeom prst="rect">
            <a:avLst/>
          </a:prstGeom>
          <a:noFill/>
          <a:ln/>
        </p:spPr>
        <p:txBody>
          <a:bodyPr wrap="square" lIns="0" tIns="0" rIns="0" bIns="0" rtlCol="0" anchor="t"/>
          <a:lstStyle/>
          <a:p>
            <a:pPr indent="0" marL="0">
              <a:buNone/>
            </a:pPr>
            <a:r>
              <a:rPr lang="en-US" sz="1200" dirty="0">
                <a:solidFill>
                  <a:srgbClr val="57534E"/>
                </a:solidFill>
                <a:latin typeface="IBM Plex Sans" pitchFamily="34" charset="0"/>
                <a:ea typeface="IBM Plex Sans" pitchFamily="34" charset="-122"/>
                <a:cs typeface="IBM Plex Sans" pitchFamily="34" charset="-120"/>
              </a:rPr>
              <a:t>Severity tag · compliance record · notify if critical</a:t>
            </a:r>
            <a:endParaRPr lang="en-US" sz="1200" dirty="0"/>
          </a:p>
        </p:txBody>
      </p:sp>
      <p:sp>
        <p:nvSpPr>
          <p:cNvPr id="22" name="Shape 20"/>
          <p:cNvSpPr/>
          <p:nvPr/>
        </p:nvSpPr>
        <p:spPr>
          <a:xfrm>
            <a:off x="7287768" y="1280160"/>
            <a:ext cx="1627632" cy="1554480"/>
          </a:xfrm>
          <a:prstGeom prst="rect">
            <a:avLst/>
          </a:prstGeom>
          <a:solidFill>
            <a:srgbClr val="FFFFFF"/>
          </a:solidFill>
          <a:ln w="12700">
            <a:solidFill>
              <a:srgbClr val="D6D3D1"/>
            </a:solidFill>
            <a:prstDash val="solid"/>
          </a:ln>
        </p:spPr>
      </p:sp>
      <p:sp>
        <p:nvSpPr>
          <p:cNvPr id="23" name="Shape 21"/>
          <p:cNvSpPr/>
          <p:nvPr/>
        </p:nvSpPr>
        <p:spPr>
          <a:xfrm>
            <a:off x="7287768" y="1280160"/>
            <a:ext cx="1627632" cy="64008"/>
          </a:xfrm>
          <a:prstGeom prst="rect">
            <a:avLst/>
          </a:prstGeom>
          <a:solidFill>
            <a:srgbClr val="C2410C"/>
          </a:solidFill>
          <a:ln/>
        </p:spPr>
      </p:sp>
      <p:sp>
        <p:nvSpPr>
          <p:cNvPr id="24" name="Text 22"/>
          <p:cNvSpPr/>
          <p:nvPr/>
        </p:nvSpPr>
        <p:spPr>
          <a:xfrm>
            <a:off x="7379208" y="1508760"/>
            <a:ext cx="1444752" cy="502920"/>
          </a:xfrm>
          <a:prstGeom prst="rect">
            <a:avLst/>
          </a:prstGeom>
          <a:noFill/>
          <a:ln/>
        </p:spPr>
        <p:txBody>
          <a:bodyPr wrap="square" lIns="0" tIns="0" rIns="0" bIns="0" rtlCol="0" anchor="t"/>
          <a:lstStyle/>
          <a:p>
            <a:pPr indent="0" marL="0">
              <a:buNone/>
            </a:pPr>
            <a:r>
              <a:rPr lang="en-US" sz="1300" b="1" dirty="0">
                <a:solidFill>
                  <a:srgbClr val="1C1917"/>
                </a:solidFill>
                <a:latin typeface="IBM Plex Sans" pitchFamily="34" charset="0"/>
                <a:ea typeface="IBM Plex Sans" pitchFamily="34" charset="-122"/>
                <a:cs typeface="IBM Plex Sans" pitchFamily="34" charset="-120"/>
              </a:rPr>
              <a:t>Weather &amp; site</a:t>
            </a:r>
            <a:endParaRPr lang="en-US" sz="1300" dirty="0"/>
          </a:p>
        </p:txBody>
      </p:sp>
      <p:sp>
        <p:nvSpPr>
          <p:cNvPr id="25" name="Text 23"/>
          <p:cNvSpPr/>
          <p:nvPr/>
        </p:nvSpPr>
        <p:spPr>
          <a:xfrm>
            <a:off x="7379208" y="2057400"/>
            <a:ext cx="1444752" cy="640080"/>
          </a:xfrm>
          <a:prstGeom prst="rect">
            <a:avLst/>
          </a:prstGeom>
          <a:noFill/>
          <a:ln/>
        </p:spPr>
        <p:txBody>
          <a:bodyPr wrap="square" lIns="0" tIns="0" rIns="0" bIns="0" rtlCol="0" anchor="t"/>
          <a:lstStyle/>
          <a:p>
            <a:pPr indent="0" marL="0">
              <a:buNone/>
            </a:pPr>
            <a:r>
              <a:rPr lang="en-US" sz="1200" dirty="0">
                <a:solidFill>
                  <a:srgbClr val="57534E"/>
                </a:solidFill>
                <a:latin typeface="IBM Plex Sans" pitchFamily="34" charset="0"/>
                <a:ea typeface="IBM Plex Sans" pitchFamily="34" charset="-122"/>
                <a:cs typeface="IBM Plex Sans" pitchFamily="34" charset="-120"/>
              </a:rPr>
              <a:t>Outdoor delay · re-sequence · claims log</a:t>
            </a:r>
            <a:endParaRPr lang="en-US" sz="1200" dirty="0"/>
          </a:p>
        </p:txBody>
      </p:sp>
      <p:sp>
        <p:nvSpPr>
          <p:cNvPr id="26" name="Shape 24"/>
          <p:cNvSpPr/>
          <p:nvPr/>
        </p:nvSpPr>
        <p:spPr>
          <a:xfrm>
            <a:off x="411480" y="3017520"/>
            <a:ext cx="1627632" cy="1554480"/>
          </a:xfrm>
          <a:prstGeom prst="rect">
            <a:avLst/>
          </a:prstGeom>
          <a:solidFill>
            <a:srgbClr val="FFFFFF"/>
          </a:solidFill>
          <a:ln w="12700">
            <a:solidFill>
              <a:srgbClr val="D6D3D1"/>
            </a:solidFill>
            <a:prstDash val="solid"/>
          </a:ln>
        </p:spPr>
      </p:sp>
      <p:sp>
        <p:nvSpPr>
          <p:cNvPr id="27" name="Shape 25"/>
          <p:cNvSpPr/>
          <p:nvPr/>
        </p:nvSpPr>
        <p:spPr>
          <a:xfrm>
            <a:off x="411480" y="3017520"/>
            <a:ext cx="1627632" cy="64008"/>
          </a:xfrm>
          <a:prstGeom prst="rect">
            <a:avLst/>
          </a:prstGeom>
          <a:solidFill>
            <a:srgbClr val="C2410C"/>
          </a:solidFill>
          <a:ln/>
        </p:spPr>
      </p:sp>
      <p:sp>
        <p:nvSpPr>
          <p:cNvPr id="28" name="Text 26"/>
          <p:cNvSpPr/>
          <p:nvPr/>
        </p:nvSpPr>
        <p:spPr>
          <a:xfrm>
            <a:off x="502920" y="3246120"/>
            <a:ext cx="1444752" cy="502920"/>
          </a:xfrm>
          <a:prstGeom prst="rect">
            <a:avLst/>
          </a:prstGeom>
          <a:noFill/>
          <a:ln/>
        </p:spPr>
        <p:txBody>
          <a:bodyPr wrap="square" lIns="0" tIns="0" rIns="0" bIns="0" rtlCol="0" anchor="t"/>
          <a:lstStyle/>
          <a:p>
            <a:pPr indent="0" marL="0">
              <a:buNone/>
            </a:pPr>
            <a:r>
              <a:rPr lang="en-US" sz="1300" b="1" dirty="0">
                <a:solidFill>
                  <a:srgbClr val="1C1917"/>
                </a:solidFill>
                <a:latin typeface="IBM Plex Sans" pitchFamily="34" charset="0"/>
                <a:ea typeface="IBM Plex Sans" pitchFamily="34" charset="-122"/>
                <a:cs typeface="IBM Plex Sans" pitchFamily="34" charset="-120"/>
              </a:rPr>
              <a:t>Equipment down</a:t>
            </a:r>
            <a:endParaRPr lang="en-US" sz="1300" dirty="0"/>
          </a:p>
        </p:txBody>
      </p:sp>
      <p:sp>
        <p:nvSpPr>
          <p:cNvPr id="29" name="Text 27"/>
          <p:cNvSpPr/>
          <p:nvPr/>
        </p:nvSpPr>
        <p:spPr>
          <a:xfrm>
            <a:off x="502920" y="3794760"/>
            <a:ext cx="1444752" cy="640080"/>
          </a:xfrm>
          <a:prstGeom prst="rect">
            <a:avLst/>
          </a:prstGeom>
          <a:noFill/>
          <a:ln/>
        </p:spPr>
        <p:txBody>
          <a:bodyPr wrap="square" lIns="0" tIns="0" rIns="0" bIns="0" rtlCol="0" anchor="t"/>
          <a:lstStyle/>
          <a:p>
            <a:pPr indent="0" marL="0">
              <a:buNone/>
            </a:pPr>
            <a:r>
              <a:rPr lang="en-US" sz="1200" dirty="0">
                <a:solidFill>
                  <a:srgbClr val="57534E"/>
                </a:solidFill>
                <a:latin typeface="IBM Plex Sans" pitchFamily="34" charset="0"/>
                <a:ea typeface="IBM Plex Sans" pitchFamily="34" charset="-122"/>
                <a:cs typeface="IBM Plex Sans" pitchFamily="34" charset="-120"/>
              </a:rPr>
              <a:t>Cascade blocked tasks · impact for the super</a:t>
            </a:r>
            <a:endParaRPr lang="en-US" sz="1200" dirty="0"/>
          </a:p>
        </p:txBody>
      </p:sp>
      <p:sp>
        <p:nvSpPr>
          <p:cNvPr id="30" name="Shape 28"/>
          <p:cNvSpPr/>
          <p:nvPr/>
        </p:nvSpPr>
        <p:spPr>
          <a:xfrm>
            <a:off x="2130552" y="3017520"/>
            <a:ext cx="1627632" cy="1554480"/>
          </a:xfrm>
          <a:prstGeom prst="rect">
            <a:avLst/>
          </a:prstGeom>
          <a:solidFill>
            <a:srgbClr val="FFFFFF"/>
          </a:solidFill>
          <a:ln w="12700">
            <a:solidFill>
              <a:srgbClr val="D6D3D1"/>
            </a:solidFill>
            <a:prstDash val="solid"/>
          </a:ln>
        </p:spPr>
      </p:sp>
      <p:sp>
        <p:nvSpPr>
          <p:cNvPr id="31" name="Shape 29"/>
          <p:cNvSpPr/>
          <p:nvPr/>
        </p:nvSpPr>
        <p:spPr>
          <a:xfrm>
            <a:off x="2130552" y="3017520"/>
            <a:ext cx="1627632" cy="64008"/>
          </a:xfrm>
          <a:prstGeom prst="rect">
            <a:avLst/>
          </a:prstGeom>
          <a:solidFill>
            <a:srgbClr val="C2410C"/>
          </a:solidFill>
          <a:ln/>
        </p:spPr>
      </p:sp>
      <p:sp>
        <p:nvSpPr>
          <p:cNvPr id="32" name="Text 30"/>
          <p:cNvSpPr/>
          <p:nvPr/>
        </p:nvSpPr>
        <p:spPr>
          <a:xfrm>
            <a:off x="2221992" y="3246120"/>
            <a:ext cx="1444752" cy="502920"/>
          </a:xfrm>
          <a:prstGeom prst="rect">
            <a:avLst/>
          </a:prstGeom>
          <a:noFill/>
          <a:ln/>
        </p:spPr>
        <p:txBody>
          <a:bodyPr wrap="square" lIns="0" tIns="0" rIns="0" bIns="0" rtlCol="0" anchor="t"/>
          <a:lstStyle/>
          <a:p>
            <a:pPr indent="0" marL="0">
              <a:buNone/>
            </a:pPr>
            <a:r>
              <a:rPr lang="en-US" sz="1300" b="1" dirty="0">
                <a:solidFill>
                  <a:srgbClr val="1C1917"/>
                </a:solidFill>
                <a:latin typeface="IBM Plex Sans" pitchFamily="34" charset="0"/>
                <a:ea typeface="IBM Plex Sans" pitchFamily="34" charset="-122"/>
                <a:cs typeface="IBM Plex Sans" pitchFamily="34" charset="-120"/>
              </a:rPr>
              <a:t>Trade conflicts</a:t>
            </a:r>
            <a:endParaRPr lang="en-US" sz="1300" dirty="0"/>
          </a:p>
        </p:txBody>
      </p:sp>
      <p:sp>
        <p:nvSpPr>
          <p:cNvPr id="33" name="Text 31"/>
          <p:cNvSpPr/>
          <p:nvPr/>
        </p:nvSpPr>
        <p:spPr>
          <a:xfrm>
            <a:off x="2221992" y="3794760"/>
            <a:ext cx="1444752" cy="640080"/>
          </a:xfrm>
          <a:prstGeom prst="rect">
            <a:avLst/>
          </a:prstGeom>
          <a:noFill/>
          <a:ln/>
        </p:spPr>
        <p:txBody>
          <a:bodyPr wrap="square" lIns="0" tIns="0" rIns="0" bIns="0" rtlCol="0" anchor="t"/>
          <a:lstStyle/>
          <a:p>
            <a:pPr indent="0" marL="0">
              <a:buNone/>
            </a:pPr>
            <a:r>
              <a:rPr lang="en-US" sz="1200" dirty="0">
                <a:solidFill>
                  <a:srgbClr val="57534E"/>
                </a:solidFill>
                <a:latin typeface="IBM Plex Sans" pitchFamily="34" charset="0"/>
                <a:ea typeface="IBM Plex Sans" pitchFamily="34" charset="-122"/>
                <a:cs typeface="IBM Plex Sans" pitchFamily="34" charset="-120"/>
              </a:rPr>
              <a:t>Clash logged · both crews see it · re-sequence</a:t>
            </a:r>
            <a:endParaRPr lang="en-US" sz="1200" dirty="0"/>
          </a:p>
        </p:txBody>
      </p:sp>
      <p:sp>
        <p:nvSpPr>
          <p:cNvPr id="34" name="Shape 32"/>
          <p:cNvSpPr/>
          <p:nvPr/>
        </p:nvSpPr>
        <p:spPr>
          <a:xfrm>
            <a:off x="3849624" y="3017520"/>
            <a:ext cx="1627632" cy="1554480"/>
          </a:xfrm>
          <a:prstGeom prst="rect">
            <a:avLst/>
          </a:prstGeom>
          <a:solidFill>
            <a:srgbClr val="FFFFFF"/>
          </a:solidFill>
          <a:ln w="12700">
            <a:solidFill>
              <a:srgbClr val="D6D3D1"/>
            </a:solidFill>
            <a:prstDash val="solid"/>
          </a:ln>
        </p:spPr>
      </p:sp>
      <p:sp>
        <p:nvSpPr>
          <p:cNvPr id="35" name="Shape 33"/>
          <p:cNvSpPr/>
          <p:nvPr/>
        </p:nvSpPr>
        <p:spPr>
          <a:xfrm>
            <a:off x="3849624" y="3017520"/>
            <a:ext cx="1627632" cy="64008"/>
          </a:xfrm>
          <a:prstGeom prst="rect">
            <a:avLst/>
          </a:prstGeom>
          <a:solidFill>
            <a:srgbClr val="C2410C"/>
          </a:solidFill>
          <a:ln/>
        </p:spPr>
      </p:sp>
      <p:sp>
        <p:nvSpPr>
          <p:cNvPr id="36" name="Text 34"/>
          <p:cNvSpPr/>
          <p:nvPr/>
        </p:nvSpPr>
        <p:spPr>
          <a:xfrm>
            <a:off x="3941064" y="3246120"/>
            <a:ext cx="1444752" cy="502920"/>
          </a:xfrm>
          <a:prstGeom prst="rect">
            <a:avLst/>
          </a:prstGeom>
          <a:noFill/>
          <a:ln/>
        </p:spPr>
        <p:txBody>
          <a:bodyPr wrap="square" lIns="0" tIns="0" rIns="0" bIns="0" rtlCol="0" anchor="t"/>
          <a:lstStyle/>
          <a:p>
            <a:pPr indent="0" marL="0">
              <a:buNone/>
            </a:pPr>
            <a:r>
              <a:rPr lang="en-US" sz="1300" b="1" dirty="0">
                <a:solidFill>
                  <a:srgbClr val="1C1917"/>
                </a:solidFill>
                <a:latin typeface="IBM Plex Sans" pitchFamily="34" charset="0"/>
                <a:ea typeface="IBM Plex Sans" pitchFamily="34" charset="-122"/>
                <a:cs typeface="IBM Plex Sans" pitchFamily="34" charset="-120"/>
              </a:rPr>
              <a:t>Inspections</a:t>
            </a:r>
            <a:endParaRPr lang="en-US" sz="1300" dirty="0"/>
          </a:p>
        </p:txBody>
      </p:sp>
      <p:sp>
        <p:nvSpPr>
          <p:cNvPr id="37" name="Text 35"/>
          <p:cNvSpPr/>
          <p:nvPr/>
        </p:nvSpPr>
        <p:spPr>
          <a:xfrm>
            <a:off x="3941064" y="3794760"/>
            <a:ext cx="1444752" cy="640080"/>
          </a:xfrm>
          <a:prstGeom prst="rect">
            <a:avLst/>
          </a:prstGeom>
          <a:noFill/>
          <a:ln/>
        </p:spPr>
        <p:txBody>
          <a:bodyPr wrap="square" lIns="0" tIns="0" rIns="0" bIns="0" rtlCol="0" anchor="t"/>
          <a:lstStyle/>
          <a:p>
            <a:pPr indent="0" marL="0">
              <a:buNone/>
            </a:pPr>
            <a:r>
              <a:rPr lang="en-US" sz="1200" dirty="0">
                <a:solidFill>
                  <a:srgbClr val="57534E"/>
                </a:solidFill>
                <a:latin typeface="IBM Plex Sans" pitchFamily="34" charset="0"/>
                <a:ea typeface="IBM Plex Sans" pitchFamily="34" charset="-122"/>
                <a:cs typeface="IBM Plex Sans" pitchFamily="34" charset="-120"/>
              </a:rPr>
              <a:t>Sign-off unlocks next phase · PM notified</a:t>
            </a:r>
            <a:endParaRPr lang="en-US" sz="1200" dirty="0"/>
          </a:p>
        </p:txBody>
      </p:sp>
      <p:sp>
        <p:nvSpPr>
          <p:cNvPr id="38" name="Shape 36"/>
          <p:cNvSpPr/>
          <p:nvPr/>
        </p:nvSpPr>
        <p:spPr>
          <a:xfrm>
            <a:off x="5568696" y="3017520"/>
            <a:ext cx="1627632" cy="1554480"/>
          </a:xfrm>
          <a:prstGeom prst="rect">
            <a:avLst/>
          </a:prstGeom>
          <a:solidFill>
            <a:srgbClr val="FFFFFF"/>
          </a:solidFill>
          <a:ln w="12700">
            <a:solidFill>
              <a:srgbClr val="D6D3D1"/>
            </a:solidFill>
            <a:prstDash val="solid"/>
          </a:ln>
        </p:spPr>
      </p:sp>
      <p:sp>
        <p:nvSpPr>
          <p:cNvPr id="39" name="Shape 37"/>
          <p:cNvSpPr/>
          <p:nvPr/>
        </p:nvSpPr>
        <p:spPr>
          <a:xfrm>
            <a:off x="5568696" y="3017520"/>
            <a:ext cx="1627632" cy="64008"/>
          </a:xfrm>
          <a:prstGeom prst="rect">
            <a:avLst/>
          </a:prstGeom>
          <a:solidFill>
            <a:srgbClr val="C2410C"/>
          </a:solidFill>
          <a:ln/>
        </p:spPr>
      </p:sp>
      <p:sp>
        <p:nvSpPr>
          <p:cNvPr id="40" name="Text 38"/>
          <p:cNvSpPr/>
          <p:nvPr/>
        </p:nvSpPr>
        <p:spPr>
          <a:xfrm>
            <a:off x="5660136" y="3246120"/>
            <a:ext cx="1444752" cy="502920"/>
          </a:xfrm>
          <a:prstGeom prst="rect">
            <a:avLst/>
          </a:prstGeom>
          <a:noFill/>
          <a:ln/>
        </p:spPr>
        <p:txBody>
          <a:bodyPr wrap="square" lIns="0" tIns="0" rIns="0" bIns="0" rtlCol="0" anchor="t"/>
          <a:lstStyle/>
          <a:p>
            <a:pPr indent="0" marL="0">
              <a:buNone/>
            </a:pPr>
            <a:r>
              <a:rPr lang="en-US" sz="1300" b="1" dirty="0">
                <a:solidFill>
                  <a:srgbClr val="1C1917"/>
                </a:solidFill>
                <a:latin typeface="IBM Plex Sans" pitchFamily="34" charset="0"/>
                <a:ea typeface="IBM Plex Sans" pitchFamily="34" charset="-122"/>
                <a:cs typeface="IBM Plex Sans" pitchFamily="34" charset="-120"/>
              </a:rPr>
              <a:t>Field questions</a:t>
            </a:r>
            <a:endParaRPr lang="en-US" sz="1300" dirty="0"/>
          </a:p>
        </p:txBody>
      </p:sp>
      <p:sp>
        <p:nvSpPr>
          <p:cNvPr id="41" name="Text 39"/>
          <p:cNvSpPr/>
          <p:nvPr/>
        </p:nvSpPr>
        <p:spPr>
          <a:xfrm>
            <a:off x="5660136" y="3794760"/>
            <a:ext cx="1444752" cy="640080"/>
          </a:xfrm>
          <a:prstGeom prst="rect">
            <a:avLst/>
          </a:prstGeom>
          <a:noFill/>
          <a:ln/>
        </p:spPr>
        <p:txBody>
          <a:bodyPr wrap="square" lIns="0" tIns="0" rIns="0" bIns="0" rtlCol="0" anchor="t"/>
          <a:lstStyle/>
          <a:p>
            <a:pPr indent="0" marL="0">
              <a:buNone/>
            </a:pPr>
            <a:r>
              <a:rPr lang="en-US" sz="1200" dirty="0">
                <a:solidFill>
                  <a:srgbClr val="57534E"/>
                </a:solidFill>
                <a:latin typeface="IBM Plex Sans" pitchFamily="34" charset="0"/>
                <a:ea typeface="IBM Plex Sans" pitchFamily="34" charset="-122"/>
                <a:cs typeface="IBM Plex Sans" pitchFamily="34" charset="-120"/>
              </a:rPr>
              <a:t>Voice → super / PM path · answer logged on task</a:t>
            </a:r>
            <a:endParaRPr lang="en-US" sz="1200" dirty="0"/>
          </a:p>
        </p:txBody>
      </p:sp>
      <p:sp>
        <p:nvSpPr>
          <p:cNvPr id="42" name="Shape 40"/>
          <p:cNvSpPr/>
          <p:nvPr/>
        </p:nvSpPr>
        <p:spPr>
          <a:xfrm>
            <a:off x="7287768" y="3017520"/>
            <a:ext cx="1627632" cy="1554480"/>
          </a:xfrm>
          <a:prstGeom prst="rect">
            <a:avLst/>
          </a:prstGeom>
          <a:solidFill>
            <a:srgbClr val="FFFFFF"/>
          </a:solidFill>
          <a:ln w="12700">
            <a:solidFill>
              <a:srgbClr val="D6D3D1"/>
            </a:solidFill>
            <a:prstDash val="solid"/>
          </a:ln>
        </p:spPr>
      </p:sp>
      <p:sp>
        <p:nvSpPr>
          <p:cNvPr id="43" name="Shape 41"/>
          <p:cNvSpPr/>
          <p:nvPr/>
        </p:nvSpPr>
        <p:spPr>
          <a:xfrm>
            <a:off x="7287768" y="3017520"/>
            <a:ext cx="1627632" cy="64008"/>
          </a:xfrm>
          <a:prstGeom prst="rect">
            <a:avLst/>
          </a:prstGeom>
          <a:solidFill>
            <a:srgbClr val="C2410C"/>
          </a:solidFill>
          <a:ln/>
        </p:spPr>
      </p:sp>
      <p:sp>
        <p:nvSpPr>
          <p:cNvPr id="44" name="Text 42"/>
          <p:cNvSpPr/>
          <p:nvPr/>
        </p:nvSpPr>
        <p:spPr>
          <a:xfrm>
            <a:off x="7379208" y="3246120"/>
            <a:ext cx="1444752" cy="502920"/>
          </a:xfrm>
          <a:prstGeom prst="rect">
            <a:avLst/>
          </a:prstGeom>
          <a:noFill/>
          <a:ln/>
        </p:spPr>
        <p:txBody>
          <a:bodyPr wrap="square" lIns="0" tIns="0" rIns="0" bIns="0" rtlCol="0" anchor="t"/>
          <a:lstStyle/>
          <a:p>
            <a:pPr indent="0" marL="0">
              <a:buNone/>
            </a:pPr>
            <a:r>
              <a:rPr lang="en-US" sz="1300" b="1" dirty="0">
                <a:solidFill>
                  <a:srgbClr val="1C1917"/>
                </a:solidFill>
                <a:latin typeface="IBM Plex Sans" pitchFamily="34" charset="0"/>
                <a:ea typeface="IBM Plex Sans" pitchFamily="34" charset="-122"/>
                <a:cs typeface="IBM Plex Sans" pitchFamily="34" charset="-120"/>
              </a:rPr>
              <a:t>Crew &amp; labor</a:t>
            </a:r>
            <a:endParaRPr lang="en-US" sz="1300" dirty="0"/>
          </a:p>
        </p:txBody>
      </p:sp>
      <p:sp>
        <p:nvSpPr>
          <p:cNvPr id="45" name="Text 43"/>
          <p:cNvSpPr/>
          <p:nvPr/>
        </p:nvSpPr>
        <p:spPr>
          <a:xfrm>
            <a:off x="7379208" y="3794760"/>
            <a:ext cx="1444752" cy="640080"/>
          </a:xfrm>
          <a:prstGeom prst="rect">
            <a:avLst/>
          </a:prstGeom>
          <a:noFill/>
          <a:ln/>
        </p:spPr>
        <p:txBody>
          <a:bodyPr wrap="square" lIns="0" tIns="0" rIns="0" bIns="0" rtlCol="0" anchor="t"/>
          <a:lstStyle/>
          <a:p>
            <a:pPr indent="0" marL="0">
              <a:buNone/>
            </a:pPr>
            <a:r>
              <a:rPr lang="en-US" sz="1200" dirty="0">
                <a:solidFill>
                  <a:srgbClr val="57534E"/>
                </a:solidFill>
                <a:latin typeface="IBM Plex Sans" pitchFamily="34" charset="0"/>
                <a:ea typeface="IBM Plex Sans" pitchFamily="34" charset="-122"/>
                <a:cs typeface="IBM Plex Sans" pitchFamily="34" charset="-120"/>
              </a:rPr>
              <a:t>Understaffed flag · resource gap on the schedule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C2410C"/>
          </a:solidFill>
          <a:ln w="12700">
            <a:solidFill>
              <a:srgbClr val="C2410C"/>
            </a:solidFill>
            <a:prstDash val="solid"/>
          </a:ln>
        </p:spPr>
      </p:sp>
      <p:sp>
        <p:nvSpPr>
          <p:cNvPr id="3" name="Text 1"/>
          <p:cNvSpPr/>
          <p:nvPr/>
        </p:nvSpPr>
        <p:spPr>
          <a:xfrm>
            <a:off x="502920" y="292608"/>
            <a:ext cx="8046720" cy="256032"/>
          </a:xfrm>
          <a:prstGeom prst="rect">
            <a:avLst/>
          </a:prstGeom>
          <a:noFill/>
          <a:ln/>
        </p:spPr>
        <p:txBody>
          <a:bodyPr wrap="square" lIns="0" tIns="0" rIns="0" bIns="0" rtlCol="0" anchor="ctr"/>
          <a:lstStyle/>
          <a:p>
            <a:pPr indent="0" marL="0">
              <a:buNone/>
            </a:pPr>
            <a:r>
              <a:rPr lang="en-US" sz="1200" b="1" spc="250" kern="0" dirty="0">
                <a:solidFill>
                  <a:srgbClr val="C2410C"/>
                </a:solidFill>
                <a:latin typeface="IBM Plex Sans" pitchFamily="34" charset="0"/>
                <a:ea typeface="IBM Plex Sans" pitchFamily="34" charset="-122"/>
                <a:cs typeface="IBM Plex Sans" pitchFamily="34" charset="-120"/>
              </a:rPr>
              <a:t>HOW</a:t>
            </a:r>
            <a:endParaRPr lang="en-US" sz="1200" dirty="0"/>
          </a:p>
        </p:txBody>
      </p:sp>
      <p:sp>
        <p:nvSpPr>
          <p:cNvPr id="4" name="Text 2"/>
          <p:cNvSpPr/>
          <p:nvPr/>
        </p:nvSpPr>
        <p:spPr>
          <a:xfrm>
            <a:off x="502920" y="475488"/>
            <a:ext cx="8321040" cy="384048"/>
          </a:xfrm>
          <a:prstGeom prst="rect">
            <a:avLst/>
          </a:prstGeom>
          <a:noFill/>
          <a:ln/>
        </p:spPr>
        <p:txBody>
          <a:bodyPr wrap="square" lIns="0" tIns="0" rIns="0" bIns="0" rtlCol="0" anchor="t"/>
          <a:lstStyle/>
          <a:p>
            <a:pPr indent="0" marL="0">
              <a:buNone/>
            </a:pPr>
            <a:r>
              <a:rPr lang="en-US" sz="2200" b="1" dirty="0">
                <a:solidFill>
                  <a:srgbClr val="1C1917"/>
                </a:solidFill>
                <a:latin typeface="IBM Plex Sans" pitchFamily="34" charset="0"/>
                <a:ea typeface="IBM Plex Sans" pitchFamily="34" charset="-122"/>
                <a:cs typeface="IBM Plex Sans" pitchFamily="34" charset="-120"/>
              </a:rPr>
              <a:t>Proposed architecture, Stage 1</a:t>
            </a:r>
            <a:endParaRPr lang="en-US" sz="2200" dirty="0"/>
          </a:p>
        </p:txBody>
      </p:sp>
      <p:pic>
        <p:nvPicPr>
          <p:cNvPr id="5" name="Image 0" descr="/home/rdksupe/building_shit/buildsync/deck/assets/05-architecture.png">    </p:cNvPr>
          <p:cNvPicPr>
            <a:picLocks noChangeAspect="1"/>
          </p:cNvPicPr>
          <p:nvPr/>
        </p:nvPicPr>
        <p:blipFill>
          <a:blip r:embed="rId1"/>
          <a:stretch>
            <a:fillRect/>
          </a:stretch>
        </p:blipFill>
        <p:spPr>
          <a:xfrm>
            <a:off x="91440" y="1066800"/>
            <a:ext cx="8961120" cy="375513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C2410C"/>
          </a:solidFill>
          <a:ln w="12700">
            <a:solidFill>
              <a:srgbClr val="C2410C"/>
            </a:solidFill>
            <a:prstDash val="solid"/>
          </a:ln>
        </p:spPr>
      </p:sp>
      <p:sp>
        <p:nvSpPr>
          <p:cNvPr id="3" name="Text 1"/>
          <p:cNvSpPr/>
          <p:nvPr/>
        </p:nvSpPr>
        <p:spPr>
          <a:xfrm>
            <a:off x="502920" y="292608"/>
            <a:ext cx="8046720" cy="256032"/>
          </a:xfrm>
          <a:prstGeom prst="rect">
            <a:avLst/>
          </a:prstGeom>
          <a:noFill/>
          <a:ln/>
        </p:spPr>
        <p:txBody>
          <a:bodyPr wrap="square" lIns="0" tIns="0" rIns="0" bIns="0" rtlCol="0" anchor="ctr"/>
          <a:lstStyle/>
          <a:p>
            <a:pPr indent="0" marL="0">
              <a:buNone/>
            </a:pPr>
            <a:r>
              <a:rPr lang="en-US" sz="1200" b="1" spc="250" kern="0" dirty="0">
                <a:solidFill>
                  <a:srgbClr val="C2410C"/>
                </a:solidFill>
                <a:latin typeface="IBM Plex Sans" pitchFamily="34" charset="0"/>
                <a:ea typeface="IBM Plex Sans" pitchFamily="34" charset="-122"/>
                <a:cs typeface="IBM Plex Sans" pitchFamily="34" charset="-120"/>
              </a:rPr>
              <a:t>WITH KAYA</a:t>
            </a:r>
            <a:endParaRPr lang="en-US" sz="1200" dirty="0"/>
          </a:p>
        </p:txBody>
      </p:sp>
      <p:sp>
        <p:nvSpPr>
          <p:cNvPr id="4" name="Text 2"/>
          <p:cNvSpPr/>
          <p:nvPr/>
        </p:nvSpPr>
        <p:spPr>
          <a:xfrm>
            <a:off x="502920" y="530352"/>
            <a:ext cx="8321040" cy="594360"/>
          </a:xfrm>
          <a:prstGeom prst="rect">
            <a:avLst/>
          </a:prstGeom>
          <a:noFill/>
          <a:ln/>
        </p:spPr>
        <p:txBody>
          <a:bodyPr wrap="square" lIns="0" tIns="0" rIns="0" bIns="0" rtlCol="0" anchor="t"/>
          <a:lstStyle/>
          <a:p>
            <a:pPr indent="0" marL="0">
              <a:buNone/>
            </a:pPr>
            <a:r>
              <a:rPr lang="en-US" sz="2400" b="1" dirty="0">
                <a:solidFill>
                  <a:srgbClr val="1C1917"/>
                </a:solidFill>
                <a:latin typeface="IBM Plex Sans" pitchFamily="34" charset="0"/>
                <a:ea typeface="IBM Plex Sans" pitchFamily="34" charset="-122"/>
                <a:cs typeface="IBM Plex Sans" pitchFamily="34" charset="-120"/>
              </a:rPr>
              <a:t>Kaya covers the PO. FieldClaw covers the site.</a:t>
            </a:r>
            <a:endParaRPr lang="en-US" sz="2400" dirty="0"/>
          </a:p>
        </p:txBody>
      </p:sp>
      <p:sp>
        <p:nvSpPr>
          <p:cNvPr id="5" name="Shape 3"/>
          <p:cNvSpPr/>
          <p:nvPr/>
        </p:nvSpPr>
        <p:spPr>
          <a:xfrm>
            <a:off x="502920" y="1234440"/>
            <a:ext cx="3977640" cy="3200400"/>
          </a:xfrm>
          <a:prstGeom prst="rect">
            <a:avLst/>
          </a:prstGeom>
          <a:solidFill>
            <a:srgbClr val="FFFFFF"/>
          </a:solidFill>
          <a:ln w="12700">
            <a:solidFill>
              <a:srgbClr val="D6D3D1"/>
            </a:solidFill>
            <a:prstDash val="solid"/>
          </a:ln>
        </p:spPr>
      </p:sp>
      <p:sp>
        <p:nvSpPr>
          <p:cNvPr id="6" name="Shape 4"/>
          <p:cNvSpPr/>
          <p:nvPr/>
        </p:nvSpPr>
        <p:spPr>
          <a:xfrm>
            <a:off x="502920" y="1234440"/>
            <a:ext cx="3977640" cy="73152"/>
          </a:xfrm>
          <a:prstGeom prst="rect">
            <a:avLst/>
          </a:prstGeom>
          <a:solidFill>
            <a:srgbClr val="57534E"/>
          </a:solidFill>
          <a:ln/>
        </p:spPr>
      </p:sp>
      <p:sp>
        <p:nvSpPr>
          <p:cNvPr id="7" name="Text 5"/>
          <p:cNvSpPr/>
          <p:nvPr/>
        </p:nvSpPr>
        <p:spPr>
          <a:xfrm>
            <a:off x="777240" y="1554480"/>
            <a:ext cx="3474720" cy="274320"/>
          </a:xfrm>
          <a:prstGeom prst="rect">
            <a:avLst/>
          </a:prstGeom>
          <a:noFill/>
          <a:ln/>
        </p:spPr>
        <p:txBody>
          <a:bodyPr wrap="square" lIns="0" tIns="0" rIns="0" bIns="0" rtlCol="0" anchor="ctr"/>
          <a:lstStyle/>
          <a:p>
            <a:pPr indent="0" marL="0">
              <a:buNone/>
            </a:pPr>
            <a:r>
              <a:rPr lang="en-US" sz="1300" b="1" spc="200" kern="0" dirty="0">
                <a:solidFill>
                  <a:srgbClr val="57534E"/>
                </a:solidFill>
                <a:latin typeface="IBM Plex Sans" pitchFamily="34" charset="0"/>
                <a:ea typeface="IBM Plex Sans" pitchFamily="34" charset="-122"/>
                <a:cs typeface="IBM Plex Sans" pitchFamily="34" charset="-120"/>
              </a:rPr>
              <a:t>KAYA</a:t>
            </a:r>
            <a:endParaRPr lang="en-US" sz="1300" dirty="0"/>
          </a:p>
        </p:txBody>
      </p:sp>
      <p:sp>
        <p:nvSpPr>
          <p:cNvPr id="8" name="Text 6"/>
          <p:cNvSpPr/>
          <p:nvPr/>
        </p:nvSpPr>
        <p:spPr>
          <a:xfrm>
            <a:off x="777240" y="1965960"/>
            <a:ext cx="3474720" cy="411480"/>
          </a:xfrm>
          <a:prstGeom prst="rect">
            <a:avLst/>
          </a:prstGeom>
          <a:noFill/>
          <a:ln/>
        </p:spPr>
        <p:txBody>
          <a:bodyPr wrap="square" lIns="0" tIns="0" rIns="0" bIns="0" rtlCol="0" anchor="ctr"/>
          <a:lstStyle/>
          <a:p>
            <a:pPr indent="0" marL="0">
              <a:buNone/>
            </a:pPr>
            <a:r>
              <a:rPr lang="en-US" sz="2200" b="1" dirty="0">
                <a:solidFill>
                  <a:srgbClr val="1C1917"/>
                </a:solidFill>
                <a:latin typeface="IBM Plex Sans" pitchFamily="34" charset="0"/>
                <a:ea typeface="IBM Plex Sans" pitchFamily="34" charset="-122"/>
                <a:cs typeface="IBM Plex Sans" pitchFamily="34" charset="-120"/>
              </a:rPr>
              <a:t>What was ordered</a:t>
            </a:r>
            <a:endParaRPr lang="en-US" sz="2200" dirty="0"/>
          </a:p>
        </p:txBody>
      </p:sp>
      <p:sp>
        <p:nvSpPr>
          <p:cNvPr id="9" name="Text 7"/>
          <p:cNvSpPr/>
          <p:nvPr/>
        </p:nvSpPr>
        <p:spPr>
          <a:xfrm>
            <a:off x="777240" y="2606040"/>
            <a:ext cx="3474720" cy="1371600"/>
          </a:xfrm>
          <a:prstGeom prst="rect">
            <a:avLst/>
          </a:prstGeom>
          <a:noFill/>
          <a:ln/>
        </p:spPr>
        <p:txBody>
          <a:bodyPr wrap="square" lIns="0" tIns="0" rIns="0" bIns="0" rtlCol="0" anchor="ctr"/>
          <a:lstStyle/>
          <a:p>
            <a:pPr indent="0" marL="0">
              <a:buNone/>
            </a:pPr>
            <a:r>
              <a:rPr lang="en-US" sz="1500" dirty="0">
                <a:solidFill>
                  <a:srgbClr val="57534E"/>
                </a:solidFill>
                <a:latin typeface="IBM Plex Sans" pitchFamily="34" charset="0"/>
                <a:ea typeface="IBM Plex Sans" pitchFamily="34" charset="-122"/>
                <a:cs typeface="IBM Plex Sans" pitchFamily="34" charset="-120"/>
              </a:rPr>
              <a:t>Procurement and supply-chain intelligence.</a:t>
            </a:r>
            <a:endParaRPr lang="en-US" sz="1500" dirty="0"/>
          </a:p>
          <a:p>
            <a:pPr indent="0" marL="0">
              <a:buNone/>
            </a:pPr>
            <a:r>
              <a:rPr lang="en-US" sz="1500" dirty="0">
                <a:solidFill>
                  <a:srgbClr val="57534E"/>
                </a:solidFill>
                <a:latin typeface="IBM Plex Sans" pitchFamily="34" charset="0"/>
                <a:ea typeface="IBM Plex Sans" pitchFamily="34" charset="-122"/>
                <a:cs typeface="IBM Plex Sans" pitchFamily="34" charset="-120"/>
              </a:rPr>
              <a:t>Office to suppliers.</a:t>
            </a:r>
            <a:endParaRPr lang="en-US" sz="1500" dirty="0"/>
          </a:p>
          <a:p>
            <a:pPr indent="0" marL="0">
              <a:buNone/>
            </a:pPr>
            <a:r>
              <a:rPr lang="en-US" sz="1500" dirty="0">
                <a:solidFill>
                  <a:srgbClr val="57534E"/>
                </a:solidFill>
                <a:latin typeface="IBM Plex Sans" pitchFamily="34" charset="0"/>
                <a:ea typeface="IBM Plex Sans" pitchFamily="34" charset="-122"/>
                <a:cs typeface="IBM Plex Sans" pitchFamily="34" charset="-120"/>
              </a:rPr>
              <a:t>POs, lead times, vendor workflows.</a:t>
            </a:r>
            <a:endParaRPr lang="en-US" sz="1500" dirty="0"/>
          </a:p>
        </p:txBody>
      </p:sp>
      <p:sp>
        <p:nvSpPr>
          <p:cNvPr id="10" name="Shape 8"/>
          <p:cNvSpPr/>
          <p:nvPr/>
        </p:nvSpPr>
        <p:spPr>
          <a:xfrm>
            <a:off x="4663440" y="1234440"/>
            <a:ext cx="3977640" cy="3200400"/>
          </a:xfrm>
          <a:prstGeom prst="rect">
            <a:avLst/>
          </a:prstGeom>
          <a:solidFill>
            <a:srgbClr val="1C1917"/>
          </a:solidFill>
          <a:ln/>
        </p:spPr>
      </p:sp>
      <p:sp>
        <p:nvSpPr>
          <p:cNvPr id="11" name="Shape 9"/>
          <p:cNvSpPr/>
          <p:nvPr/>
        </p:nvSpPr>
        <p:spPr>
          <a:xfrm>
            <a:off x="4663440" y="1234440"/>
            <a:ext cx="3977640" cy="73152"/>
          </a:xfrm>
          <a:prstGeom prst="rect">
            <a:avLst/>
          </a:prstGeom>
          <a:solidFill>
            <a:srgbClr val="C2410C"/>
          </a:solidFill>
          <a:ln/>
        </p:spPr>
      </p:sp>
      <p:sp>
        <p:nvSpPr>
          <p:cNvPr id="12" name="Text 10"/>
          <p:cNvSpPr/>
          <p:nvPr/>
        </p:nvSpPr>
        <p:spPr>
          <a:xfrm>
            <a:off x="4937760" y="1554480"/>
            <a:ext cx="3474720" cy="274320"/>
          </a:xfrm>
          <a:prstGeom prst="rect">
            <a:avLst/>
          </a:prstGeom>
          <a:noFill/>
          <a:ln/>
        </p:spPr>
        <p:txBody>
          <a:bodyPr wrap="square" lIns="0" tIns="0" rIns="0" bIns="0" rtlCol="0" anchor="ctr"/>
          <a:lstStyle/>
          <a:p>
            <a:pPr indent="0" marL="0">
              <a:buNone/>
            </a:pPr>
            <a:r>
              <a:rPr lang="en-US" sz="1300" b="1" spc="200" kern="0" dirty="0">
                <a:solidFill>
                  <a:srgbClr val="C2410C"/>
                </a:solidFill>
                <a:latin typeface="IBM Plex Sans" pitchFamily="34" charset="0"/>
                <a:ea typeface="IBM Plex Sans" pitchFamily="34" charset="-122"/>
                <a:cs typeface="IBM Plex Sans" pitchFamily="34" charset="-120"/>
              </a:rPr>
              <a:t>FIELDCLAW</a:t>
            </a:r>
            <a:endParaRPr lang="en-US" sz="1300" dirty="0"/>
          </a:p>
        </p:txBody>
      </p:sp>
      <p:sp>
        <p:nvSpPr>
          <p:cNvPr id="13" name="Text 11"/>
          <p:cNvSpPr/>
          <p:nvPr/>
        </p:nvSpPr>
        <p:spPr>
          <a:xfrm>
            <a:off x="4937760" y="1965960"/>
            <a:ext cx="3474720" cy="411480"/>
          </a:xfrm>
          <a:prstGeom prst="rect">
            <a:avLst/>
          </a:prstGeom>
          <a:noFill/>
          <a:ln/>
        </p:spPr>
        <p:txBody>
          <a:bodyPr wrap="square" lIns="0" tIns="0" rIns="0" bIns="0" rtlCol="0" anchor="ctr"/>
          <a:lstStyle/>
          <a:p>
            <a:pPr indent="0" marL="0">
              <a:buNone/>
            </a:pPr>
            <a:r>
              <a:rPr lang="en-US" sz="2200" b="1" dirty="0">
                <a:solidFill>
                  <a:srgbClr val="FAFAF9"/>
                </a:solidFill>
                <a:latin typeface="IBM Plex Sans" pitchFamily="34" charset="0"/>
                <a:ea typeface="IBM Plex Sans" pitchFamily="34" charset="-122"/>
                <a:cs typeface="IBM Plex Sans" pitchFamily="34" charset="-120"/>
              </a:rPr>
              <a:t>What is happening</a:t>
            </a:r>
            <a:endParaRPr lang="en-US" sz="2200" dirty="0"/>
          </a:p>
        </p:txBody>
      </p:sp>
      <p:sp>
        <p:nvSpPr>
          <p:cNvPr id="14" name="Text 12"/>
          <p:cNvSpPr/>
          <p:nvPr/>
        </p:nvSpPr>
        <p:spPr>
          <a:xfrm>
            <a:off x="4937760" y="2606040"/>
            <a:ext cx="3474720" cy="1371600"/>
          </a:xfrm>
          <a:prstGeom prst="rect">
            <a:avLst/>
          </a:prstGeom>
          <a:noFill/>
          <a:ln/>
        </p:spPr>
        <p:txBody>
          <a:bodyPr wrap="square" lIns="0" tIns="0" rIns="0" bIns="0" rtlCol="0" anchor="ctr"/>
          <a:lstStyle/>
          <a:p>
            <a:pPr indent="0" marL="0">
              <a:buNone/>
            </a:pPr>
            <a:r>
              <a:rPr lang="en-US" sz="1500" dirty="0">
                <a:solidFill>
                  <a:srgbClr val="A8A29E"/>
                </a:solidFill>
                <a:latin typeface="IBM Plex Sans" pitchFamily="34" charset="0"/>
                <a:ea typeface="IBM Plex Sans" pitchFamily="34" charset="-122"/>
                <a:cs typeface="IBM Plex Sans" pitchFamily="34" charset="-120"/>
              </a:rPr>
              <a:t>Execution-layer field intelligence.</a:t>
            </a:r>
            <a:endParaRPr lang="en-US" sz="1500" dirty="0"/>
          </a:p>
          <a:p>
            <a:pPr indent="0" marL="0">
              <a:buNone/>
            </a:pPr>
            <a:r>
              <a:rPr lang="en-US" sz="1500" dirty="0">
                <a:solidFill>
                  <a:srgbClr val="A8A29E"/>
                </a:solidFill>
                <a:latin typeface="IBM Plex Sans" pitchFamily="34" charset="0"/>
                <a:ea typeface="IBM Plex Sans" pitchFamily="34" charset="-122"/>
                <a:cs typeface="IBM Plex Sans" pitchFamily="34" charset="-120"/>
              </a:rPr>
              <a:t>Field to superintendent to field.</a:t>
            </a:r>
            <a:endParaRPr lang="en-US" sz="1500" dirty="0"/>
          </a:p>
          <a:p>
            <a:pPr indent="0" marL="0">
              <a:buNone/>
            </a:pPr>
            <a:r>
              <a:rPr lang="en-US" sz="1500" dirty="0">
                <a:solidFill>
                  <a:srgbClr val="A8A29E"/>
                </a:solidFill>
                <a:latin typeface="IBM Plex Sans" pitchFamily="34" charset="0"/>
                <a:ea typeface="IBM Plex Sans" pitchFamily="34" charset="-122"/>
                <a:cs typeface="IBM Plex Sans" pitchFamily="34" charset="-120"/>
              </a:rPr>
              <a:t>Voice, photos, ops picture, answers back.</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C1917"/>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C2410C"/>
          </a:solidFill>
          <a:ln w="12700">
            <a:solidFill>
              <a:srgbClr val="C2410C"/>
            </a:solidFill>
            <a:prstDash val="solid"/>
          </a:ln>
        </p:spPr>
      </p:sp>
      <p:sp>
        <p:nvSpPr>
          <p:cNvPr id="3" name="Text 1"/>
          <p:cNvSpPr/>
          <p:nvPr/>
        </p:nvSpPr>
        <p:spPr>
          <a:xfrm>
            <a:off x="640080" y="1828800"/>
            <a:ext cx="7772400" cy="640080"/>
          </a:xfrm>
          <a:prstGeom prst="rect">
            <a:avLst/>
          </a:prstGeom>
          <a:noFill/>
          <a:ln/>
        </p:spPr>
        <p:txBody>
          <a:bodyPr wrap="square" lIns="0" tIns="0" rIns="0" bIns="0" rtlCol="0" anchor="ctr"/>
          <a:lstStyle/>
          <a:p>
            <a:pPr indent="0" marL="0">
              <a:buNone/>
            </a:pPr>
            <a:r>
              <a:rPr lang="en-US" sz="4200" b="1" dirty="0">
                <a:solidFill>
                  <a:srgbClr val="FAFAF9"/>
                </a:solidFill>
                <a:latin typeface="IBM Plex Sans" pitchFamily="34" charset="0"/>
                <a:ea typeface="IBM Plex Sans" pitchFamily="34" charset="-122"/>
                <a:cs typeface="IBM Plex Sans" pitchFamily="34" charset="-120"/>
              </a:rPr>
              <a:t>Thank you :)</a:t>
            </a:r>
            <a:endParaRPr lang="en-US" sz="4200" dirty="0"/>
          </a:p>
        </p:txBody>
      </p:sp>
      <p:sp>
        <p:nvSpPr>
          <p:cNvPr id="4" name="Text 2"/>
          <p:cNvSpPr/>
          <p:nvPr/>
        </p:nvSpPr>
        <p:spPr>
          <a:xfrm>
            <a:off x="640080" y="2606040"/>
            <a:ext cx="7772400" cy="411480"/>
          </a:xfrm>
          <a:prstGeom prst="rect">
            <a:avLst/>
          </a:prstGeom>
          <a:noFill/>
          <a:ln/>
        </p:spPr>
        <p:txBody>
          <a:bodyPr wrap="square" lIns="0" tIns="0" rIns="0" bIns="0" rtlCol="0" anchor="ctr"/>
          <a:lstStyle/>
          <a:p>
            <a:pPr indent="0" marL="0">
              <a:buNone/>
            </a:pPr>
            <a:r>
              <a:rPr lang="en-US" sz="2200" dirty="0">
                <a:solidFill>
                  <a:srgbClr val="A8A29E"/>
                </a:solidFill>
                <a:latin typeface="IBM Plex Sans" pitchFamily="34" charset="0"/>
                <a:ea typeface="IBM Plex Sans" pitchFamily="34" charset="-122"/>
                <a:cs typeface="IBM Plex Sans" pitchFamily="34" charset="-120"/>
              </a:rPr>
              <a:t>Excited to build.</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FieldClaw — Field Intelligence Layer</dc:title>
  <dc:subject>Kaya AI Hackathon 2026 · Open Innovation · Stage 1</dc:subject>
  <dc:creator>FieldClaw</dc:creator>
  <cp:lastModifiedBy>FieldClaw</cp:lastModifiedBy>
  <cp:revision>1</cp:revision>
  <dcterms:created xsi:type="dcterms:W3CDTF">2026-07-11T00:17:15Z</dcterms:created>
  <dcterms:modified xsi:type="dcterms:W3CDTF">2026-07-11T00:17:15Z</dcterms:modified>
</cp:coreProperties>
</file>